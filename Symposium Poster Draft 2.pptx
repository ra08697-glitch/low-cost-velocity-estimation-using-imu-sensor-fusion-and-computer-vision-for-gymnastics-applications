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32918400" cy="438912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DEFC"/>
    <a:srgbClr val="A8C7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B93651-422E-469B-9CD6-F045AF60E257}" v="71" dt="2026-03-20T02:00:11.3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4660"/>
  </p:normalViewPr>
  <p:slideViewPr>
    <p:cSldViewPr snapToGrid="0">
      <p:cViewPr varScale="1">
        <p:scale>
          <a:sx n="17" d="100"/>
          <a:sy n="17" d="100"/>
        </p:scale>
        <p:origin x="29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7183123"/>
            <a:ext cx="27980640" cy="15280640"/>
          </a:xfrm>
        </p:spPr>
        <p:txBody>
          <a:bodyPr anchor="b"/>
          <a:lstStyle>
            <a:lvl1pPr algn="ctr">
              <a:defRPr sz="21600"/>
            </a:lvl1pPr>
          </a:lstStyle>
          <a:p>
            <a:r>
              <a:rPr lang="en-US"/>
              <a:t>Click to edit Master title style</a:t>
            </a:r>
            <a:endParaRPr lang="en-US" dirty="0"/>
          </a:p>
        </p:txBody>
      </p:sp>
      <p:sp>
        <p:nvSpPr>
          <p:cNvPr id="3" name="Subtitle 2"/>
          <p:cNvSpPr>
            <a:spLocks noGrp="1"/>
          </p:cNvSpPr>
          <p:nvPr>
            <p:ph type="subTitle" idx="1"/>
          </p:nvPr>
        </p:nvSpPr>
        <p:spPr>
          <a:xfrm>
            <a:off x="4114800" y="23053043"/>
            <a:ext cx="24688800" cy="10596877"/>
          </a:xfrm>
        </p:spPr>
        <p:txBody>
          <a:bodyPr/>
          <a:lstStyle>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6D58291-D6CB-44D5-99A5-04C6ACF26C68}"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170ECD-A41C-422A-A34D-1037D14FD766}" type="slidenum">
              <a:rPr lang="en-US" smtClean="0"/>
              <a:t>‹#›</a:t>
            </a:fld>
            <a:endParaRPr lang="en-US"/>
          </a:p>
        </p:txBody>
      </p:sp>
    </p:spTree>
    <p:extLst>
      <p:ext uri="{BB962C8B-B14F-4D97-AF65-F5344CB8AC3E}">
        <p14:creationId xmlns:p14="http://schemas.microsoft.com/office/powerpoint/2010/main" val="3758390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D58291-D6CB-44D5-99A5-04C6ACF26C68}"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170ECD-A41C-422A-A34D-1037D14FD766}" type="slidenum">
              <a:rPr lang="en-US" smtClean="0"/>
              <a:t>‹#›</a:t>
            </a:fld>
            <a:endParaRPr lang="en-US"/>
          </a:p>
        </p:txBody>
      </p:sp>
    </p:spTree>
    <p:extLst>
      <p:ext uri="{BB962C8B-B14F-4D97-AF65-F5344CB8AC3E}">
        <p14:creationId xmlns:p14="http://schemas.microsoft.com/office/powerpoint/2010/main" val="151706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10942333"/>
            <a:ext cx="28392120" cy="18257517"/>
          </a:xfrm>
        </p:spPr>
        <p:txBody>
          <a:bodyPr anchor="b"/>
          <a:lstStyle>
            <a:lvl1pPr>
              <a:defRPr sz="21600"/>
            </a:lvl1pPr>
          </a:lstStyle>
          <a:p>
            <a:r>
              <a:rPr lang="en-US"/>
              <a:t>Click to edit Master title style</a:t>
            </a:r>
            <a:endParaRPr lang="en-US" dirty="0"/>
          </a:p>
        </p:txBody>
      </p:sp>
      <p:sp>
        <p:nvSpPr>
          <p:cNvPr id="3" name="Text Placeholder 2"/>
          <p:cNvSpPr>
            <a:spLocks noGrp="1"/>
          </p:cNvSpPr>
          <p:nvPr>
            <p:ph type="body" idx="1"/>
          </p:nvPr>
        </p:nvSpPr>
        <p:spPr>
          <a:xfrm>
            <a:off x="2245997" y="29372573"/>
            <a:ext cx="28392120" cy="9601197"/>
          </a:xfrm>
        </p:spPr>
        <p:txBody>
          <a:bodyPr/>
          <a:lstStyle>
            <a:lvl1pPr marL="0" indent="0">
              <a:buNone/>
              <a:defRPr sz="8640">
                <a:solidFill>
                  <a:schemeClr val="tx1"/>
                </a:solidFill>
              </a:defRPr>
            </a:lvl1pPr>
            <a:lvl2pPr marL="1645920" indent="0">
              <a:buNone/>
              <a:defRPr sz="7200">
                <a:solidFill>
                  <a:schemeClr val="tx1">
                    <a:tint val="75000"/>
                  </a:schemeClr>
                </a:solidFill>
              </a:defRPr>
            </a:lvl2pPr>
            <a:lvl3pPr marL="3291840" indent="0">
              <a:buNone/>
              <a:defRPr sz="6480">
                <a:solidFill>
                  <a:schemeClr val="tx1">
                    <a:tint val="75000"/>
                  </a:schemeClr>
                </a:solidFill>
              </a:defRPr>
            </a:lvl3pPr>
            <a:lvl4pPr marL="4937760" indent="0">
              <a:buNone/>
              <a:defRPr sz="5760">
                <a:solidFill>
                  <a:schemeClr val="tx1">
                    <a:tint val="75000"/>
                  </a:schemeClr>
                </a:solidFill>
              </a:defRPr>
            </a:lvl4pPr>
            <a:lvl5pPr marL="6583680" indent="0">
              <a:buNone/>
              <a:defRPr sz="5760">
                <a:solidFill>
                  <a:schemeClr val="tx1">
                    <a:tint val="75000"/>
                  </a:schemeClr>
                </a:solidFill>
              </a:defRPr>
            </a:lvl5pPr>
            <a:lvl6pPr marL="8229600" indent="0">
              <a:buNone/>
              <a:defRPr sz="5760">
                <a:solidFill>
                  <a:schemeClr val="tx1">
                    <a:tint val="75000"/>
                  </a:schemeClr>
                </a:solidFill>
              </a:defRPr>
            </a:lvl6pPr>
            <a:lvl7pPr marL="9875520" indent="0">
              <a:buNone/>
              <a:defRPr sz="5760">
                <a:solidFill>
                  <a:schemeClr val="tx1">
                    <a:tint val="75000"/>
                  </a:schemeClr>
                </a:solidFill>
              </a:defRPr>
            </a:lvl7pPr>
            <a:lvl8pPr marL="11521440" indent="0">
              <a:buNone/>
              <a:defRPr sz="5760">
                <a:solidFill>
                  <a:schemeClr val="tx1">
                    <a:tint val="75000"/>
                  </a:schemeClr>
                </a:solidFill>
              </a:defRPr>
            </a:lvl8pPr>
            <a:lvl9pPr marL="13167360" indent="0">
              <a:buNone/>
              <a:defRPr sz="5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D58291-D6CB-44D5-99A5-04C6ACF26C68}"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170ECD-A41C-422A-A34D-1037D14FD766}" type="slidenum">
              <a:rPr lang="en-US" smtClean="0"/>
              <a:t>‹#›</a:t>
            </a:fld>
            <a:endParaRPr lang="en-US"/>
          </a:p>
        </p:txBody>
      </p:sp>
    </p:spTree>
    <p:extLst>
      <p:ext uri="{BB962C8B-B14F-4D97-AF65-F5344CB8AC3E}">
        <p14:creationId xmlns:p14="http://schemas.microsoft.com/office/powerpoint/2010/main" val="4005858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11684000"/>
            <a:ext cx="1399032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664940" y="11684000"/>
            <a:ext cx="1399032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6D58291-D6CB-44D5-99A5-04C6ACF26C68}"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170ECD-A41C-422A-A34D-1037D14FD766}" type="slidenum">
              <a:rPr lang="en-US" smtClean="0"/>
              <a:t>‹#›</a:t>
            </a:fld>
            <a:endParaRPr lang="en-US"/>
          </a:p>
        </p:txBody>
      </p:sp>
    </p:spTree>
    <p:extLst>
      <p:ext uri="{BB962C8B-B14F-4D97-AF65-F5344CB8AC3E}">
        <p14:creationId xmlns:p14="http://schemas.microsoft.com/office/powerpoint/2010/main" val="1423013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336810"/>
            <a:ext cx="28392120" cy="848360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10759443"/>
            <a:ext cx="13926024"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4" name="Content Placeholder 3"/>
          <p:cNvSpPr>
            <a:spLocks noGrp="1"/>
          </p:cNvSpPr>
          <p:nvPr>
            <p:ph sz="half" idx="2"/>
          </p:nvPr>
        </p:nvSpPr>
        <p:spPr>
          <a:xfrm>
            <a:off x="2267431" y="16032480"/>
            <a:ext cx="13926024"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664942" y="10759443"/>
            <a:ext cx="13994608"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6" name="Content Placeholder 5"/>
          <p:cNvSpPr>
            <a:spLocks noGrp="1"/>
          </p:cNvSpPr>
          <p:nvPr>
            <p:ph sz="quarter" idx="4"/>
          </p:nvPr>
        </p:nvSpPr>
        <p:spPr>
          <a:xfrm>
            <a:off x="16664942" y="16032480"/>
            <a:ext cx="13994608"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6D58291-D6CB-44D5-99A5-04C6ACF26C68}" type="datetimeFigureOut">
              <a:rPr lang="en-US" smtClean="0"/>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2170ECD-A41C-422A-A34D-1037D14FD766}" type="slidenum">
              <a:rPr lang="en-US" smtClean="0"/>
              <a:t>‹#›</a:t>
            </a:fld>
            <a:endParaRPr lang="en-US"/>
          </a:p>
        </p:txBody>
      </p:sp>
    </p:spTree>
    <p:extLst>
      <p:ext uri="{BB962C8B-B14F-4D97-AF65-F5344CB8AC3E}">
        <p14:creationId xmlns:p14="http://schemas.microsoft.com/office/powerpoint/2010/main" val="3704191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D58291-D6CB-44D5-99A5-04C6ACF26C68}" type="datetimeFigureOut">
              <a:rPr lang="en-US" smtClean="0"/>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2170ECD-A41C-422A-A34D-1037D14FD766}" type="slidenum">
              <a:rPr lang="en-US" smtClean="0"/>
              <a:t>‹#›</a:t>
            </a:fld>
            <a:endParaRPr lang="en-US"/>
          </a:p>
        </p:txBody>
      </p:sp>
    </p:spTree>
    <p:extLst>
      <p:ext uri="{BB962C8B-B14F-4D97-AF65-F5344CB8AC3E}">
        <p14:creationId xmlns:p14="http://schemas.microsoft.com/office/powerpoint/2010/main" val="1107132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D58291-D6CB-44D5-99A5-04C6ACF26C68}" type="datetimeFigureOut">
              <a:rPr lang="en-US" smtClean="0"/>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2170ECD-A41C-422A-A34D-1037D14FD766}" type="slidenum">
              <a:rPr lang="en-US" smtClean="0"/>
              <a:t>‹#›</a:t>
            </a:fld>
            <a:endParaRPr lang="en-US"/>
          </a:p>
        </p:txBody>
      </p:sp>
    </p:spTree>
    <p:extLst>
      <p:ext uri="{BB962C8B-B14F-4D97-AF65-F5344CB8AC3E}">
        <p14:creationId xmlns:p14="http://schemas.microsoft.com/office/powerpoint/2010/main" val="1598890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endParaRPr lang="en-US" dirty="0"/>
          </a:p>
        </p:txBody>
      </p:sp>
      <p:sp>
        <p:nvSpPr>
          <p:cNvPr id="3" name="Content Placeholder 2"/>
          <p:cNvSpPr>
            <a:spLocks noGrp="1"/>
          </p:cNvSpPr>
          <p:nvPr>
            <p:ph idx="1"/>
          </p:nvPr>
        </p:nvSpPr>
        <p:spPr>
          <a:xfrm>
            <a:off x="13994608" y="6319530"/>
            <a:ext cx="16664940" cy="31191200"/>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D6D58291-D6CB-44D5-99A5-04C6ACF26C68}"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170ECD-A41C-422A-A34D-1037D14FD766}" type="slidenum">
              <a:rPr lang="en-US" smtClean="0"/>
              <a:t>‹#›</a:t>
            </a:fld>
            <a:endParaRPr lang="en-US"/>
          </a:p>
        </p:txBody>
      </p:sp>
    </p:spTree>
    <p:extLst>
      <p:ext uri="{BB962C8B-B14F-4D97-AF65-F5344CB8AC3E}">
        <p14:creationId xmlns:p14="http://schemas.microsoft.com/office/powerpoint/2010/main" val="1452472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6319530"/>
            <a:ext cx="16664940" cy="31191200"/>
          </a:xfrm>
        </p:spPr>
        <p:txBody>
          <a:bodyPr anchor="t"/>
          <a:lstStyle>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a:r>
              <a:rPr lang="en-US"/>
              <a:t>Click icon to add picture</a:t>
            </a:r>
            <a:endParaRPr lang="en-US" dirty="0"/>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D6D58291-D6CB-44D5-99A5-04C6ACF26C68}"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170ECD-A41C-422A-A34D-1037D14FD766}" type="slidenum">
              <a:rPr lang="en-US" smtClean="0"/>
              <a:t>‹#›</a:t>
            </a:fld>
            <a:endParaRPr lang="en-US"/>
          </a:p>
        </p:txBody>
      </p:sp>
    </p:spTree>
    <p:extLst>
      <p:ext uri="{BB962C8B-B14F-4D97-AF65-F5344CB8AC3E}">
        <p14:creationId xmlns:p14="http://schemas.microsoft.com/office/powerpoint/2010/main" val="2162265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D58291-D6CB-44D5-99A5-04C6ACF26C68}"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170ECD-A41C-422A-A34D-1037D14FD766}" type="slidenum">
              <a:rPr lang="en-US" smtClean="0"/>
              <a:t>‹#›</a:t>
            </a:fld>
            <a:endParaRPr lang="en-US"/>
          </a:p>
        </p:txBody>
      </p:sp>
    </p:spTree>
    <p:extLst>
      <p:ext uri="{BB962C8B-B14F-4D97-AF65-F5344CB8AC3E}">
        <p14:creationId xmlns:p14="http://schemas.microsoft.com/office/powerpoint/2010/main" val="2269661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2336800"/>
            <a:ext cx="7098030" cy="3719576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2336800"/>
            <a:ext cx="20882610" cy="37195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D58291-D6CB-44D5-99A5-04C6ACF26C68}"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170ECD-A41C-422A-A34D-1037D14FD766}" type="slidenum">
              <a:rPr lang="en-US" smtClean="0"/>
              <a:t>‹#›</a:t>
            </a:fld>
            <a:endParaRPr lang="en-US"/>
          </a:p>
        </p:txBody>
      </p:sp>
    </p:spTree>
    <p:extLst>
      <p:ext uri="{BB962C8B-B14F-4D97-AF65-F5344CB8AC3E}">
        <p14:creationId xmlns:p14="http://schemas.microsoft.com/office/powerpoint/2010/main" val="1041390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2336810"/>
            <a:ext cx="28392120" cy="848360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11684000"/>
            <a:ext cx="28392120" cy="27848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63140" y="40680650"/>
            <a:ext cx="7406640" cy="2336800"/>
          </a:xfrm>
          <a:prstGeom prst="rect">
            <a:avLst/>
          </a:prstGeom>
        </p:spPr>
        <p:txBody>
          <a:bodyPr vert="horz" lIns="91440" tIns="45720" rIns="91440" bIns="45720" rtlCol="0" anchor="ctr"/>
          <a:lstStyle>
            <a:lvl1pPr algn="l">
              <a:defRPr sz="4320">
                <a:solidFill>
                  <a:schemeClr val="tx1">
                    <a:tint val="75000"/>
                  </a:schemeClr>
                </a:solidFill>
              </a:defRPr>
            </a:lvl1pPr>
          </a:lstStyle>
          <a:p>
            <a:fld id="{D6D58291-D6CB-44D5-99A5-04C6ACF26C68}" type="datetimeFigureOut">
              <a:rPr lang="en-US" smtClean="0"/>
              <a:t>3/23/2026</a:t>
            </a:fld>
            <a:endParaRPr lang="en-US"/>
          </a:p>
        </p:txBody>
      </p:sp>
      <p:sp>
        <p:nvSpPr>
          <p:cNvPr id="5" name="Footer Placeholder 4"/>
          <p:cNvSpPr>
            <a:spLocks noGrp="1"/>
          </p:cNvSpPr>
          <p:nvPr>
            <p:ph type="ftr" sz="quarter" idx="3"/>
          </p:nvPr>
        </p:nvSpPr>
        <p:spPr>
          <a:xfrm>
            <a:off x="10904220" y="40680650"/>
            <a:ext cx="11109960" cy="2336800"/>
          </a:xfrm>
          <a:prstGeom prst="rect">
            <a:avLst/>
          </a:prstGeom>
        </p:spPr>
        <p:txBody>
          <a:bodyPr vert="horz" lIns="91440" tIns="45720" rIns="91440" bIns="45720" rtlCol="0" anchor="ctr"/>
          <a:lstStyle>
            <a:lvl1pPr algn="ctr">
              <a:defRPr sz="4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3248620" y="40680650"/>
            <a:ext cx="7406640" cy="2336800"/>
          </a:xfrm>
          <a:prstGeom prst="rect">
            <a:avLst/>
          </a:prstGeom>
        </p:spPr>
        <p:txBody>
          <a:bodyPr vert="horz" lIns="91440" tIns="45720" rIns="91440" bIns="45720" rtlCol="0" anchor="ctr"/>
          <a:lstStyle>
            <a:lvl1pPr algn="r">
              <a:defRPr sz="4320">
                <a:solidFill>
                  <a:schemeClr val="tx1">
                    <a:tint val="75000"/>
                  </a:schemeClr>
                </a:solidFill>
              </a:defRPr>
            </a:lvl1pPr>
          </a:lstStyle>
          <a:p>
            <a:fld id="{82170ECD-A41C-422A-A34D-1037D14FD766}" type="slidenum">
              <a:rPr lang="en-US" smtClean="0"/>
              <a:t>‹#›</a:t>
            </a:fld>
            <a:endParaRPr lang="en-US"/>
          </a:p>
        </p:txBody>
      </p:sp>
    </p:spTree>
    <p:extLst>
      <p:ext uri="{BB962C8B-B14F-4D97-AF65-F5344CB8AC3E}">
        <p14:creationId xmlns:p14="http://schemas.microsoft.com/office/powerpoint/2010/main" val="28954065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390025"/>
            <a:ext cx="32004000" cy="7315200"/>
          </a:xfrm>
          <a:solidFill>
            <a:srgbClr val="CCDEFC"/>
          </a:solidFill>
        </p:spPr>
        <p:txBody>
          <a:bodyPr anchor="t">
            <a:normAutofit/>
          </a:bodyPr>
          <a:lstStyle/>
          <a:p>
            <a:pPr algn="ctr"/>
            <a:br>
              <a:rPr lang="en-US" sz="8800" b="1" dirty="0">
                <a:latin typeface="Times New Roman" panose="02020603050405020304" pitchFamily="18" charset="0"/>
                <a:cs typeface="Times New Roman" panose="02020603050405020304" pitchFamily="18" charset="0"/>
              </a:rPr>
            </a:br>
            <a:r>
              <a:rPr lang="en-US" sz="8000" b="1" dirty="0">
                <a:latin typeface="Times New Roman" panose="02020603050405020304" pitchFamily="18" charset="0"/>
                <a:cs typeface="Times New Roman" panose="02020603050405020304" pitchFamily="18" charset="0"/>
              </a:rPr>
              <a:t>Low-Cost Velocity Estimation Using IMU Sensor Fusion and Computer Vision for Gymnastics Applications</a:t>
            </a:r>
            <a:br>
              <a:rPr lang="en-US" sz="8800" b="1" dirty="0">
                <a:latin typeface="Times New Roman" panose="02020603050405020304" pitchFamily="18" charset="0"/>
                <a:cs typeface="Times New Roman" panose="02020603050405020304" pitchFamily="18" charset="0"/>
              </a:rPr>
            </a:br>
            <a:br>
              <a:rPr lang="en-US" sz="5400" b="1" dirty="0">
                <a:latin typeface="Times New Roman" panose="02020603050405020304" pitchFamily="18" charset="0"/>
                <a:cs typeface="Times New Roman" panose="02020603050405020304" pitchFamily="18" charset="0"/>
              </a:rPr>
            </a:br>
            <a:r>
              <a:rPr lang="en-US" sz="5400" b="1" dirty="0">
                <a:latin typeface="Times New Roman" panose="02020603050405020304" pitchFamily="18" charset="0"/>
                <a:cs typeface="Times New Roman" panose="02020603050405020304" pitchFamily="18" charset="0"/>
              </a:rPr>
              <a:t>Reasun U. Allah-U-Akbar</a:t>
            </a:r>
            <a:br>
              <a:rPr lang="en-US" sz="5400" b="1" dirty="0">
                <a:latin typeface="Times New Roman" panose="02020603050405020304" pitchFamily="18" charset="0"/>
                <a:cs typeface="Times New Roman" panose="02020603050405020304" pitchFamily="18" charset="0"/>
              </a:rPr>
            </a:br>
            <a:r>
              <a:rPr lang="en-US" sz="5400" b="1" dirty="0">
                <a:latin typeface="Times New Roman" panose="02020603050405020304" pitchFamily="18" charset="0"/>
                <a:cs typeface="Times New Roman" panose="02020603050405020304" pitchFamily="18" charset="0"/>
              </a:rPr>
              <a:t>Department of Mechanical Engineering</a:t>
            </a:r>
            <a:br>
              <a:rPr lang="en-US" sz="5400" b="1" dirty="0">
                <a:latin typeface="Times New Roman" panose="02020603050405020304" pitchFamily="18" charset="0"/>
                <a:cs typeface="Times New Roman" panose="02020603050405020304" pitchFamily="18" charset="0"/>
              </a:rPr>
            </a:br>
            <a:br>
              <a:rPr lang="en-US" sz="5400" b="1" dirty="0">
                <a:latin typeface="Times New Roman" panose="02020603050405020304" pitchFamily="18" charset="0"/>
                <a:cs typeface="Times New Roman" panose="02020603050405020304" pitchFamily="18" charset="0"/>
              </a:rPr>
            </a:br>
            <a:r>
              <a:rPr lang="en-US" sz="5400" b="1" dirty="0">
                <a:latin typeface="Times New Roman" panose="02020603050405020304" pitchFamily="18" charset="0"/>
                <a:cs typeface="Times New Roman" panose="02020603050405020304" pitchFamily="18" charset="0"/>
              </a:rPr>
              <a:t>Faculty Mentor: Dr. </a:t>
            </a:r>
            <a:r>
              <a:rPr lang="en-US" sz="5400" b="1" dirty="0" err="1">
                <a:latin typeface="Times New Roman" panose="02020603050405020304" pitchFamily="18" charset="0"/>
                <a:cs typeface="Times New Roman" panose="02020603050405020304" pitchFamily="18" charset="0"/>
              </a:rPr>
              <a:t>Junghun</a:t>
            </a:r>
            <a:r>
              <a:rPr lang="en-US" sz="5400" b="1" dirty="0">
                <a:latin typeface="Times New Roman" panose="02020603050405020304" pitchFamily="18" charset="0"/>
                <a:cs typeface="Times New Roman" panose="02020603050405020304" pitchFamily="18" charset="0"/>
              </a:rPr>
              <a:t> Choi, Ph.D.</a:t>
            </a:r>
          </a:p>
        </p:txBody>
      </p:sp>
      <p:sp>
        <p:nvSpPr>
          <p:cNvPr id="6" name="Content Placeholder 5"/>
          <p:cNvSpPr>
            <a:spLocks noGrp="1"/>
          </p:cNvSpPr>
          <p:nvPr>
            <p:ph sz="half" idx="1"/>
          </p:nvPr>
        </p:nvSpPr>
        <p:spPr>
          <a:xfrm>
            <a:off x="457199" y="8154929"/>
            <a:ext cx="15796260" cy="6881871"/>
          </a:xfrm>
          <a:prstGeom prst="rect">
            <a:avLst/>
          </a:prstGeom>
          <a:ln>
            <a:solidFill>
              <a:schemeClr val="tx1"/>
            </a:solidFill>
          </a:ln>
        </p:spPr>
        <p:txBody>
          <a:bodyPr anchor="t">
            <a:normAutofit fontScale="25000" lnSpcReduction="20000"/>
          </a:bodyPr>
          <a:lstStyle/>
          <a:p>
            <a:pPr marL="0" indent="0" algn="ctr">
              <a:lnSpc>
                <a:spcPct val="100000"/>
              </a:lnSpc>
              <a:spcBef>
                <a:spcPts val="0"/>
              </a:spcBef>
              <a:buNone/>
            </a:pPr>
            <a:r>
              <a:rPr lang="en-US" sz="20000" b="1" dirty="0">
                <a:latin typeface="Times New Roman" panose="02020603050405020304" pitchFamily="18" charset="0"/>
                <a:cs typeface="Times New Roman" panose="02020603050405020304" pitchFamily="18" charset="0"/>
              </a:rPr>
              <a:t>Background</a:t>
            </a:r>
          </a:p>
          <a:p>
            <a:pPr marL="0" indent="0" algn="just">
              <a:lnSpc>
                <a:spcPct val="100000"/>
              </a:lnSpc>
              <a:spcBef>
                <a:spcPts val="0"/>
              </a:spcBef>
              <a:buNone/>
            </a:pPr>
            <a:endParaRPr lang="en-US" sz="12000" dirty="0">
              <a:latin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sz="12000" dirty="0">
                <a:latin typeface="Times New Roman" panose="02020603050405020304" pitchFamily="18" charset="0"/>
                <a:cs typeface="Times New Roman" panose="02020603050405020304" pitchFamily="18" charset="0"/>
              </a:rPr>
              <a:t>Gymnastics performance analysis has traditionally relied on expensive optical motion capture systems (e.g., Vicon, Qualisys) requiring controlled laboratory conditions, extensive marker preparation, and specialized operators — creating significant barriers for routine training environments. Whole-body center of mass (</a:t>
            </a:r>
            <a:r>
              <a:rPr lang="en-US" sz="12000" dirty="0" err="1">
                <a:latin typeface="Times New Roman" panose="02020603050405020304" pitchFamily="18" charset="0"/>
                <a:cs typeface="Times New Roman" panose="02020603050405020304" pitchFamily="18" charset="0"/>
              </a:rPr>
              <a:t>CoM</a:t>
            </a:r>
            <a:r>
              <a:rPr lang="en-US" sz="12000" dirty="0">
                <a:latin typeface="Times New Roman" panose="02020603050405020304" pitchFamily="18" charset="0"/>
                <a:cs typeface="Times New Roman" panose="02020603050405020304" pitchFamily="18" charset="0"/>
              </a:rPr>
              <a:t>) velocity is a critical performance indicator across multiple events: vault approach speed, tumbling entry velocity, and jump mechanics are all directly derived from </a:t>
            </a:r>
            <a:r>
              <a:rPr lang="en-US" sz="12000" dirty="0" err="1">
                <a:latin typeface="Times New Roman" panose="02020603050405020304" pitchFamily="18" charset="0"/>
                <a:cs typeface="Times New Roman" panose="02020603050405020304" pitchFamily="18" charset="0"/>
              </a:rPr>
              <a:t>CoM</a:t>
            </a:r>
            <a:r>
              <a:rPr lang="en-US" sz="12000" dirty="0">
                <a:latin typeface="Times New Roman" panose="02020603050405020304" pitchFamily="18" charset="0"/>
                <a:cs typeface="Times New Roman" panose="02020603050405020304" pitchFamily="18" charset="0"/>
              </a:rPr>
              <a:t> kinematics [1].</a:t>
            </a:r>
          </a:p>
          <a:p>
            <a:pPr marL="0" indent="0" algn="just">
              <a:lnSpc>
                <a:spcPct val="100000"/>
              </a:lnSpc>
              <a:spcBef>
                <a:spcPts val="0"/>
              </a:spcBef>
              <a:buNone/>
            </a:pPr>
            <a:endParaRPr lang="en-US" sz="12000" dirty="0">
              <a:latin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sz="12000" dirty="0">
                <a:latin typeface="Times New Roman" panose="02020603050405020304" pitchFamily="18" charset="0"/>
                <a:cs typeface="Times New Roman" panose="02020603050405020304" pitchFamily="18" charset="0"/>
              </a:rPr>
              <a:t>Gymnastics also carries meaningful injury risk — 62% of injuries occur at the lower extremity, with the majority during the landing phase of skills [2] — motivating accessible tools that support technique monitoring and coach feedback without laboratory infrastructure.</a:t>
            </a:r>
          </a:p>
          <a:p>
            <a:pPr marL="0" indent="0" algn="just">
              <a:lnSpc>
                <a:spcPct val="100000"/>
              </a:lnSpc>
              <a:spcBef>
                <a:spcPts val="0"/>
              </a:spcBef>
              <a:buNone/>
            </a:pPr>
            <a:endParaRPr lang="en-US" sz="12000" dirty="0">
              <a:latin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sz="12000" dirty="0">
                <a:latin typeface="Times New Roman" panose="02020603050405020304" pitchFamily="18" charset="0"/>
                <a:cs typeface="Times New Roman" panose="02020603050405020304" pitchFamily="18" charset="0"/>
              </a:rPr>
              <a:t>Recent advances in embedded GPU computing (NVIDIA Jetson), deep learning pose estimation (YOLOv8) [1, 3], and consumer-grade MEMS inertial sensors (BMI270) present an opportunity to develop low-cost, deployable alternatives. This work implements and characterizes two parallel approaches: a Pose Estimation CV System and a Wearable IMU System, each targeting whole-body </a:t>
            </a:r>
            <a:r>
              <a:rPr lang="en-US" sz="12000" dirty="0" err="1">
                <a:latin typeface="Times New Roman" panose="02020603050405020304" pitchFamily="18" charset="0"/>
                <a:cs typeface="Times New Roman" panose="02020603050405020304" pitchFamily="18" charset="0"/>
              </a:rPr>
              <a:t>CoM</a:t>
            </a:r>
            <a:r>
              <a:rPr lang="en-US" sz="12000" dirty="0">
                <a:latin typeface="Times New Roman" panose="02020603050405020304" pitchFamily="18" charset="0"/>
                <a:cs typeface="Times New Roman" panose="02020603050405020304" pitchFamily="18" charset="0"/>
              </a:rPr>
              <a:t> velocity estimation in gymnastics contexts.</a:t>
            </a:r>
          </a:p>
        </p:txBody>
      </p:sp>
      <p:sp>
        <p:nvSpPr>
          <p:cNvPr id="8" name="TextBox 7"/>
          <p:cNvSpPr txBox="1"/>
          <p:nvPr/>
        </p:nvSpPr>
        <p:spPr>
          <a:xfrm>
            <a:off x="457200" y="390024"/>
            <a:ext cx="2920180"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a:t>
            </a:r>
          </a:p>
        </p:txBody>
      </p:sp>
      <p:sp>
        <p:nvSpPr>
          <p:cNvPr id="9" name="Content Placeholder 5"/>
          <p:cNvSpPr txBox="1">
            <a:spLocks/>
          </p:cNvSpPr>
          <p:nvPr/>
        </p:nvSpPr>
        <p:spPr>
          <a:xfrm>
            <a:off x="457199" y="15336864"/>
            <a:ext cx="15796260" cy="4679373"/>
          </a:xfrm>
          <a:prstGeom prst="rect">
            <a:avLst/>
          </a:prstGeom>
          <a:ln>
            <a:solidFill>
              <a:schemeClr val="tx1"/>
            </a:solidFill>
          </a:ln>
        </p:spPr>
        <p:txBody>
          <a:bodyPr vert="horz" lIns="91440" tIns="45720" rIns="91440" bIns="45720" rtlCol="0" anchor="t">
            <a:normAutofit fontScale="92500" lnSpcReduction="20000"/>
          </a:bodyPr>
          <a:lst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US" sz="5000" b="1" dirty="0">
                <a:latin typeface="Times New Roman" panose="02020603050405020304" pitchFamily="18" charset="0"/>
                <a:cs typeface="Times New Roman" panose="02020603050405020304" pitchFamily="18" charset="0"/>
              </a:rPr>
              <a:t>Research Hypothesis</a:t>
            </a:r>
          </a:p>
          <a:p>
            <a:pPr marL="0" indent="0" algn="just">
              <a:lnSpc>
                <a:spcPct val="100000"/>
              </a:lnSpc>
              <a:spcBef>
                <a:spcPts val="0"/>
              </a:spcBef>
              <a:buFont typeface="Arial" panose="020B0604020202020204" pitchFamily="34" charset="0"/>
              <a:buNone/>
            </a:pPr>
            <a:endParaRPr lang="en-US" sz="3000" b="1" dirty="0">
              <a:latin typeface="Times New Roman" panose="02020603050405020304" pitchFamily="18" charset="0"/>
              <a:cs typeface="Times New Roman" panose="02020603050405020304" pitchFamily="18" charset="0"/>
            </a:endParaRPr>
          </a:p>
          <a:p>
            <a:pPr marL="0" indent="0" algn="just">
              <a:lnSpc>
                <a:spcPct val="100000"/>
              </a:lnSpc>
              <a:spcBef>
                <a:spcPts val="0"/>
              </a:spcBef>
              <a:buFont typeface="Arial" panose="020B0604020202020204" pitchFamily="34" charset="0"/>
              <a:buNone/>
            </a:pPr>
            <a:r>
              <a:rPr lang="en-US" sz="3200" b="1" dirty="0">
                <a:latin typeface="Times New Roman" panose="02020603050405020304" pitchFamily="18" charset="0"/>
                <a:cs typeface="Times New Roman" panose="02020603050405020304" pitchFamily="18" charset="0"/>
              </a:rPr>
              <a:t>Central Question: </a:t>
            </a:r>
            <a:r>
              <a:rPr lang="en-US" sz="3200" dirty="0">
                <a:latin typeface="Times New Roman" panose="02020603050405020304" pitchFamily="18" charset="0"/>
                <a:cs typeface="Times New Roman" panose="02020603050405020304" pitchFamily="18" charset="0"/>
              </a:rPr>
              <a:t>Can low-cost embedded systems accurately estimate whole-body </a:t>
            </a:r>
            <a:r>
              <a:rPr lang="en-US" sz="3200" dirty="0" err="1">
                <a:latin typeface="Times New Roman" panose="02020603050405020304" pitchFamily="18" charset="0"/>
                <a:cs typeface="Times New Roman" panose="02020603050405020304" pitchFamily="18" charset="0"/>
              </a:rPr>
              <a:t>CoM</a:t>
            </a:r>
            <a:r>
              <a:rPr lang="en-US" sz="3200" dirty="0">
                <a:latin typeface="Times New Roman" panose="02020603050405020304" pitchFamily="18" charset="0"/>
                <a:cs typeface="Times New Roman" panose="02020603050405020304" pitchFamily="18" charset="0"/>
              </a:rPr>
              <a:t> velocity in gymnastics contexts, and how do their complementary failure modes inform a practical dual-system deployment strategy?</a:t>
            </a:r>
          </a:p>
          <a:p>
            <a:pPr indent="-457200" algn="just">
              <a:lnSpc>
                <a:spcPct val="100000"/>
              </a:lnSpc>
              <a:spcBef>
                <a:spcPts val="0"/>
              </a:spcBef>
            </a:pPr>
            <a:r>
              <a:rPr lang="en-US" sz="3200" b="1" dirty="0">
                <a:latin typeface="Times New Roman" panose="02020603050405020304" pitchFamily="18" charset="0"/>
                <a:cs typeface="Times New Roman" panose="02020603050405020304" pitchFamily="18" charset="0"/>
              </a:rPr>
              <a:t>H1: </a:t>
            </a:r>
            <a:r>
              <a:rPr lang="en-US" sz="3200" dirty="0">
                <a:latin typeface="Times New Roman" panose="02020603050405020304" pitchFamily="18" charset="0"/>
                <a:cs typeface="Times New Roman" panose="02020603050405020304" pitchFamily="18" charset="0"/>
              </a:rPr>
              <a:t>The Pose Estimation CV System will estimate </a:t>
            </a:r>
            <a:r>
              <a:rPr lang="en-US" sz="3200" dirty="0" err="1">
                <a:latin typeface="Times New Roman" panose="02020603050405020304" pitchFamily="18" charset="0"/>
                <a:cs typeface="Times New Roman" panose="02020603050405020304" pitchFamily="18" charset="0"/>
              </a:rPr>
              <a:t>CoM</a:t>
            </a:r>
            <a:r>
              <a:rPr lang="en-US" sz="3200" dirty="0">
                <a:latin typeface="Times New Roman" panose="02020603050405020304" pitchFamily="18" charset="0"/>
                <a:cs typeface="Times New Roman" panose="02020603050405020304" pitchFamily="18" charset="0"/>
              </a:rPr>
              <a:t> velocity within ±15% of stopwatch reference measurements across walking, jogging, and sprinting conditions.</a:t>
            </a:r>
          </a:p>
          <a:p>
            <a:pPr indent="-457200" algn="just">
              <a:lnSpc>
                <a:spcPct val="100000"/>
              </a:lnSpc>
              <a:spcBef>
                <a:spcPts val="0"/>
              </a:spcBef>
            </a:pPr>
            <a:r>
              <a:rPr lang="en-US" sz="3200" b="1" dirty="0">
                <a:latin typeface="Times New Roman" panose="02020603050405020304" pitchFamily="18" charset="0"/>
                <a:cs typeface="Times New Roman" panose="02020603050405020304" pitchFamily="18" charset="0"/>
              </a:rPr>
              <a:t>H2: </a:t>
            </a:r>
            <a:r>
              <a:rPr lang="en-US" sz="3200" dirty="0">
                <a:latin typeface="Times New Roman" panose="02020603050405020304" pitchFamily="18" charset="0"/>
                <a:cs typeface="Times New Roman" panose="02020603050405020304" pitchFamily="18" charset="0"/>
              </a:rPr>
              <a:t>The Wearable IMU System will produce comparable velocity magnitudes but will exhibit greater cumulative error over time due to double-integration of accelerometer noise, mitigated by zero-velocity update (ZUPT).</a:t>
            </a:r>
          </a:p>
          <a:p>
            <a:pPr indent="-457200" algn="just">
              <a:lnSpc>
                <a:spcPct val="100000"/>
              </a:lnSpc>
              <a:spcBef>
                <a:spcPts val="0"/>
              </a:spcBef>
            </a:pPr>
            <a:r>
              <a:rPr lang="en-US" sz="3200" b="1" dirty="0">
                <a:latin typeface="Times New Roman" panose="02020603050405020304" pitchFamily="18" charset="0"/>
                <a:cs typeface="Times New Roman" panose="02020603050405020304" pitchFamily="18" charset="0"/>
              </a:rPr>
              <a:t>H3: </a:t>
            </a:r>
            <a:r>
              <a:rPr lang="en-US" sz="3200" dirty="0">
                <a:latin typeface="Times New Roman" panose="02020603050405020304" pitchFamily="18" charset="0"/>
                <a:cs typeface="Times New Roman" panose="02020603050405020304" pitchFamily="18" charset="0"/>
              </a:rPr>
              <a:t>Together, both systems provide sufficient biomechanical resolution to differentiate velocity profiles across gymnastics skills and apparatus types.</a:t>
            </a:r>
          </a:p>
        </p:txBody>
      </p:sp>
      <p:sp>
        <p:nvSpPr>
          <p:cNvPr id="10" name="Content Placeholder 5"/>
          <p:cNvSpPr txBox="1">
            <a:spLocks/>
          </p:cNvSpPr>
          <p:nvPr/>
        </p:nvSpPr>
        <p:spPr>
          <a:xfrm>
            <a:off x="457199" y="20333968"/>
            <a:ext cx="15796260" cy="7299920"/>
          </a:xfrm>
          <a:prstGeom prst="rect">
            <a:avLst/>
          </a:prstGeom>
          <a:ln>
            <a:solidFill>
              <a:schemeClr val="tx1"/>
            </a:solidFill>
          </a:ln>
        </p:spPr>
        <p:txBody>
          <a:bodyPr vert="horz" lIns="91440" tIns="45720" rIns="91440" bIns="45720" rtlCol="0" anchor="t">
            <a:normAutofit fontScale="25000" lnSpcReduction="20000"/>
          </a:bodyPr>
          <a:lst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US" sz="20000" b="1" dirty="0">
                <a:latin typeface="Times New Roman" panose="02020603050405020304" pitchFamily="18" charset="0"/>
                <a:cs typeface="Times New Roman" panose="02020603050405020304" pitchFamily="18" charset="0"/>
              </a:rPr>
              <a:t>Literature Review and Preliminary Work</a:t>
            </a:r>
          </a:p>
          <a:p>
            <a:pPr marL="0" indent="0" algn="just">
              <a:lnSpc>
                <a:spcPct val="100000"/>
              </a:lnSpc>
              <a:spcBef>
                <a:spcPts val="0"/>
              </a:spcBef>
              <a:buNone/>
            </a:pPr>
            <a:endParaRPr lang="en-US" sz="12000" dirty="0">
              <a:latin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sz="12000" dirty="0" err="1">
                <a:latin typeface="Times New Roman" panose="02020603050405020304" pitchFamily="18" charset="0"/>
                <a:cs typeface="Times New Roman" panose="02020603050405020304" pitchFamily="18" charset="0"/>
              </a:rPr>
              <a:t>Markerless</a:t>
            </a:r>
            <a:r>
              <a:rPr lang="en-US" sz="12000" dirty="0">
                <a:latin typeface="Times New Roman" panose="02020603050405020304" pitchFamily="18" charset="0"/>
                <a:cs typeface="Times New Roman" panose="02020603050405020304" pitchFamily="18" charset="0"/>
              </a:rPr>
              <a:t> motion capture using deep learning has been validated against optical gold-standard systems in biomechanical contexts [3]. The YOLO family of real-time object detectors — from YOLOv1 through YOLOv8 — progressively improved detection speed and accuracy, making viable on-device inference possible [4]. Hip </a:t>
            </a:r>
            <a:r>
              <a:rPr lang="en-US" sz="12000" dirty="0" err="1">
                <a:latin typeface="Times New Roman" panose="02020603050405020304" pitchFamily="18" charset="0"/>
                <a:cs typeface="Times New Roman" panose="02020603050405020304" pitchFamily="18" charset="0"/>
              </a:rPr>
              <a:t>keypoint</a:t>
            </a:r>
            <a:r>
              <a:rPr lang="en-US" sz="12000" dirty="0">
                <a:latin typeface="Times New Roman" panose="02020603050405020304" pitchFamily="18" charset="0"/>
                <a:cs typeface="Times New Roman" panose="02020603050405020304" pitchFamily="18" charset="0"/>
              </a:rPr>
              <a:t> midpoint has been used as a </a:t>
            </a:r>
            <a:r>
              <a:rPr lang="en-US" sz="12000" dirty="0" err="1">
                <a:latin typeface="Times New Roman" panose="02020603050405020304" pitchFamily="18" charset="0"/>
                <a:cs typeface="Times New Roman" panose="02020603050405020304" pitchFamily="18" charset="0"/>
              </a:rPr>
              <a:t>CoM</a:t>
            </a:r>
            <a:r>
              <a:rPr lang="en-US" sz="12000" dirty="0">
                <a:latin typeface="Times New Roman" panose="02020603050405020304" pitchFamily="18" charset="0"/>
                <a:cs typeface="Times New Roman" panose="02020603050405020304" pitchFamily="18" charset="0"/>
              </a:rPr>
              <a:t> proxy in 2D tracking studies, with Kalman-smoothed </a:t>
            </a:r>
            <a:r>
              <a:rPr lang="en-US" sz="12000" dirty="0" err="1">
                <a:latin typeface="Times New Roman" panose="02020603050405020304" pitchFamily="18" charset="0"/>
                <a:cs typeface="Times New Roman" panose="02020603050405020304" pitchFamily="18" charset="0"/>
              </a:rPr>
              <a:t>markerless</a:t>
            </a:r>
            <a:r>
              <a:rPr lang="en-US" sz="12000" dirty="0">
                <a:latin typeface="Times New Roman" panose="02020603050405020304" pitchFamily="18" charset="0"/>
                <a:cs typeface="Times New Roman" panose="02020603050405020304" pitchFamily="18" charset="0"/>
              </a:rPr>
              <a:t> systems achieving horizontal velocity errors comparable to GPS and laser-based reference methods [4].</a:t>
            </a:r>
          </a:p>
          <a:p>
            <a:pPr marL="0" indent="0" algn="just">
              <a:lnSpc>
                <a:spcPct val="100000"/>
              </a:lnSpc>
              <a:spcBef>
                <a:spcPts val="0"/>
              </a:spcBef>
              <a:buNone/>
            </a:pPr>
            <a:r>
              <a:rPr lang="en-US" sz="12000" dirty="0">
                <a:latin typeface="Times New Roman" panose="02020603050405020304" pitchFamily="18" charset="0"/>
                <a:cs typeface="Times New Roman" panose="02020603050405020304" pitchFamily="18" charset="0"/>
              </a:rPr>
              <a:t> </a:t>
            </a:r>
          </a:p>
          <a:p>
            <a:pPr marL="0" indent="0" algn="just">
              <a:lnSpc>
                <a:spcPct val="100000"/>
              </a:lnSpc>
              <a:spcBef>
                <a:spcPts val="0"/>
              </a:spcBef>
              <a:buNone/>
            </a:pPr>
            <a:r>
              <a:rPr lang="en-US" sz="12000" dirty="0">
                <a:latin typeface="Times New Roman" panose="02020603050405020304" pitchFamily="18" charset="0"/>
                <a:cs typeface="Times New Roman" panose="02020603050405020304" pitchFamily="18" charset="0"/>
              </a:rPr>
              <a:t>Raw accelerometer signals contain movement, gravity, and noise components whose separation is non-trivial during rotational motion [5]. High-pass filtering effectively removes the gravitational component but involves tradeoffs at low oscillation frequencies. Double integration of linear acceleration yields velocity but accumulates drift quadratically with time; zero-velocity update (ZUPT) is the primary mitigation strategy in body-worn IMU systems [5].</a:t>
            </a:r>
          </a:p>
          <a:p>
            <a:pPr marL="0" indent="0" algn="just">
              <a:lnSpc>
                <a:spcPct val="100000"/>
              </a:lnSpc>
              <a:spcBef>
                <a:spcPts val="0"/>
              </a:spcBef>
              <a:buNone/>
            </a:pPr>
            <a:r>
              <a:rPr lang="en-US" sz="12000" dirty="0">
                <a:latin typeface="Times New Roman" panose="02020603050405020304" pitchFamily="18" charset="0"/>
                <a:cs typeface="Times New Roman" panose="02020603050405020304" pitchFamily="18" charset="0"/>
              </a:rPr>
              <a:t> </a:t>
            </a:r>
          </a:p>
          <a:p>
            <a:pPr marL="0" indent="0" algn="just">
              <a:lnSpc>
                <a:spcPct val="100000"/>
              </a:lnSpc>
              <a:spcBef>
                <a:spcPts val="0"/>
              </a:spcBef>
              <a:buNone/>
            </a:pPr>
            <a:r>
              <a:rPr lang="en-US" sz="12000" dirty="0">
                <a:latin typeface="Times New Roman" panose="02020603050405020304" pitchFamily="18" charset="0"/>
                <a:cs typeface="Times New Roman" panose="02020603050405020304" pitchFamily="18" charset="0"/>
              </a:rPr>
              <a:t>No published work has directly compared a </a:t>
            </a:r>
            <a:r>
              <a:rPr lang="en-US" sz="12000" dirty="0" err="1">
                <a:latin typeface="Times New Roman" panose="02020603050405020304" pitchFamily="18" charset="0"/>
                <a:cs typeface="Times New Roman" panose="02020603050405020304" pitchFamily="18" charset="0"/>
              </a:rPr>
              <a:t>markerless</a:t>
            </a:r>
            <a:r>
              <a:rPr lang="en-US" sz="12000" dirty="0">
                <a:latin typeface="Times New Roman" panose="02020603050405020304" pitchFamily="18" charset="0"/>
                <a:cs typeface="Times New Roman" panose="02020603050405020304" pitchFamily="18" charset="0"/>
              </a:rPr>
              <a:t> CV approach and a wearable IMU approach for </a:t>
            </a:r>
            <a:r>
              <a:rPr lang="en-US" sz="12000" dirty="0" err="1">
                <a:latin typeface="Times New Roman" panose="02020603050405020304" pitchFamily="18" charset="0"/>
                <a:cs typeface="Times New Roman" panose="02020603050405020304" pitchFamily="18" charset="0"/>
              </a:rPr>
              <a:t>CoM</a:t>
            </a:r>
            <a:r>
              <a:rPr lang="en-US" sz="12000" dirty="0">
                <a:latin typeface="Times New Roman" panose="02020603050405020304" pitchFamily="18" charset="0"/>
                <a:cs typeface="Times New Roman" panose="02020603050405020304" pitchFamily="18" charset="0"/>
              </a:rPr>
              <a:t> velocity estimation in artistic gymnastics on embedded hardware. Prior embedded CV systems have not been validated against reference measurements on-apparatus, and no gymnastics-specific IMU-CV fusion pipeline exists in the literature.</a:t>
            </a:r>
          </a:p>
        </p:txBody>
      </p:sp>
      <p:sp>
        <p:nvSpPr>
          <p:cNvPr id="11" name="Content Placeholder 5"/>
          <p:cNvSpPr txBox="1">
            <a:spLocks/>
          </p:cNvSpPr>
          <p:nvPr/>
        </p:nvSpPr>
        <p:spPr>
          <a:xfrm>
            <a:off x="457199" y="27951618"/>
            <a:ext cx="15796260" cy="11425409"/>
          </a:xfrm>
          <a:prstGeom prst="rect">
            <a:avLst/>
          </a:prstGeom>
          <a:ln>
            <a:solidFill>
              <a:schemeClr val="tx1"/>
            </a:solidFill>
          </a:ln>
        </p:spPr>
        <p:txBody>
          <a:bodyPr vert="horz" lIns="91440" tIns="45720" rIns="91440" bIns="45720" rtlCol="0" anchor="t">
            <a:normAutofit fontScale="70000" lnSpcReduction="20000"/>
          </a:bodyPr>
          <a:lst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a:lstStyle>
          <a:p>
            <a:pPr marL="0" indent="0" algn="ctr">
              <a:lnSpc>
                <a:spcPct val="100000"/>
              </a:lnSpc>
              <a:spcBef>
                <a:spcPts val="0"/>
              </a:spcBef>
              <a:buNone/>
            </a:pPr>
            <a:r>
              <a:rPr lang="en-US" sz="7100" b="1" dirty="0">
                <a:latin typeface="Times New Roman" panose="02020603050405020304" pitchFamily="18" charset="0"/>
                <a:cs typeface="Times New Roman" panose="02020603050405020304" pitchFamily="18" charset="0"/>
              </a:rPr>
              <a:t>Methodology &amp; Approach</a:t>
            </a:r>
          </a:p>
          <a:p>
            <a:pPr marL="0" indent="0" algn="just">
              <a:lnSpc>
                <a:spcPct val="100000"/>
              </a:lnSpc>
              <a:spcBef>
                <a:spcPts val="0"/>
              </a:spcBef>
              <a:buNone/>
            </a:pPr>
            <a:endParaRPr lang="en-US" sz="4300" b="1" dirty="0">
              <a:latin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sz="4300" b="1" dirty="0">
                <a:latin typeface="Times New Roman" panose="02020603050405020304" pitchFamily="18" charset="0"/>
                <a:cs typeface="Times New Roman" panose="02020603050405020304" pitchFamily="18" charset="0"/>
              </a:rPr>
              <a:t>Pose Estimation CV System</a:t>
            </a:r>
          </a:p>
          <a:p>
            <a:pPr indent="-457200" algn="just">
              <a:lnSpc>
                <a:spcPct val="100000"/>
              </a:lnSpc>
              <a:spcBef>
                <a:spcPts val="0"/>
              </a:spcBef>
            </a:pPr>
            <a:r>
              <a:rPr lang="en-US" sz="4300" dirty="0">
                <a:latin typeface="Times New Roman" panose="02020603050405020304" pitchFamily="18" charset="0"/>
                <a:cs typeface="Times New Roman" panose="02020603050405020304" pitchFamily="18" charset="0"/>
              </a:rPr>
              <a:t>Hardware: NVIDIA Jetson Orin Nano 8GB (</a:t>
            </a:r>
            <a:r>
              <a:rPr lang="en-US" sz="4300" dirty="0" err="1">
                <a:latin typeface="Times New Roman" panose="02020603050405020304" pitchFamily="18" charset="0"/>
                <a:cs typeface="Times New Roman" panose="02020603050405020304" pitchFamily="18" charset="0"/>
              </a:rPr>
              <a:t>JetPack</a:t>
            </a:r>
            <a:r>
              <a:rPr lang="en-US" sz="4300" dirty="0">
                <a:latin typeface="Times New Roman" panose="02020603050405020304" pitchFamily="18" charset="0"/>
                <a:cs typeface="Times New Roman" panose="02020603050405020304" pitchFamily="18" charset="0"/>
              </a:rPr>
              <a:t> 6.2.1, CUDA 12.6) + </a:t>
            </a:r>
            <a:r>
              <a:rPr lang="en-US" sz="4300" dirty="0" err="1">
                <a:latin typeface="Times New Roman" panose="02020603050405020304" pitchFamily="18" charset="0"/>
                <a:cs typeface="Times New Roman" panose="02020603050405020304" pitchFamily="18" charset="0"/>
              </a:rPr>
              <a:t>Arducam</a:t>
            </a:r>
            <a:r>
              <a:rPr lang="en-US" sz="4300" dirty="0">
                <a:latin typeface="Times New Roman" panose="02020603050405020304" pitchFamily="18" charset="0"/>
                <a:cs typeface="Times New Roman" panose="02020603050405020304" pitchFamily="18" charset="0"/>
              </a:rPr>
              <a:t> IMX477 12.3MP CSI camera, </a:t>
            </a:r>
            <a:r>
              <a:rPr lang="en-US" sz="4300" dirty="0" err="1">
                <a:latin typeface="Times New Roman" panose="02020603050405020304" pitchFamily="18" charset="0"/>
                <a:cs typeface="Times New Roman" panose="02020603050405020304" pitchFamily="18" charset="0"/>
              </a:rPr>
              <a:t>Computar</a:t>
            </a:r>
            <a:r>
              <a:rPr lang="en-US" sz="4300" dirty="0">
                <a:latin typeface="Times New Roman" panose="02020603050405020304" pitchFamily="18" charset="0"/>
                <a:cs typeface="Times New Roman" panose="02020603050405020304" pitchFamily="18" charset="0"/>
              </a:rPr>
              <a:t> 12mm f/1.4 C-mount lens, 1920×1080 @ 60fps</a:t>
            </a:r>
          </a:p>
          <a:p>
            <a:pPr indent="-457200" algn="just">
              <a:lnSpc>
                <a:spcPct val="100000"/>
              </a:lnSpc>
              <a:spcBef>
                <a:spcPts val="0"/>
              </a:spcBef>
            </a:pPr>
            <a:r>
              <a:rPr lang="en-US" sz="4300" dirty="0">
                <a:latin typeface="Times New Roman" panose="02020603050405020304" pitchFamily="18" charset="0"/>
                <a:cs typeface="Times New Roman" panose="02020603050405020304" pitchFamily="18" charset="0"/>
              </a:rPr>
              <a:t>Inference: YOLOv8n-pose, on-device GPU; ~24fps effective; 41.5ms mean latency. </a:t>
            </a:r>
            <a:r>
              <a:rPr lang="en-US" sz="4300" dirty="0" err="1">
                <a:latin typeface="Times New Roman" panose="02020603050405020304" pitchFamily="18" charset="0"/>
                <a:cs typeface="Times New Roman" panose="02020603050405020304" pitchFamily="18" charset="0"/>
              </a:rPr>
              <a:t>CoM</a:t>
            </a:r>
            <a:r>
              <a:rPr lang="en-US" sz="4300" dirty="0">
                <a:latin typeface="Times New Roman" panose="02020603050405020304" pitchFamily="18" charset="0"/>
                <a:cs typeface="Times New Roman" panose="02020603050405020304" pitchFamily="18" charset="0"/>
              </a:rPr>
              <a:t> estimated as bilateral hip </a:t>
            </a:r>
            <a:r>
              <a:rPr lang="en-US" sz="4300" dirty="0" err="1">
                <a:latin typeface="Times New Roman" panose="02020603050405020304" pitchFamily="18" charset="0"/>
                <a:cs typeface="Times New Roman" panose="02020603050405020304" pitchFamily="18" charset="0"/>
              </a:rPr>
              <a:t>keypoint</a:t>
            </a:r>
            <a:r>
              <a:rPr lang="en-US" sz="4300" dirty="0">
                <a:latin typeface="Times New Roman" panose="02020603050405020304" pitchFamily="18" charset="0"/>
                <a:cs typeface="Times New Roman" panose="02020603050405020304" pitchFamily="18" charset="0"/>
              </a:rPr>
              <a:t> midpoint (</a:t>
            </a:r>
            <a:r>
              <a:rPr lang="en-US" sz="4300" dirty="0" err="1">
                <a:latin typeface="Times New Roman" panose="02020603050405020304" pitchFamily="18" charset="0"/>
                <a:cs typeface="Times New Roman" panose="02020603050405020304" pitchFamily="18" charset="0"/>
              </a:rPr>
              <a:t>keypoint</a:t>
            </a:r>
            <a:r>
              <a:rPr lang="en-US" sz="4300" dirty="0">
                <a:latin typeface="Times New Roman" panose="02020603050405020304" pitchFamily="18" charset="0"/>
                <a:cs typeface="Times New Roman" panose="02020603050405020304" pitchFamily="18" charset="0"/>
              </a:rPr>
              <a:t> indices 11 and 12).</a:t>
            </a:r>
          </a:p>
          <a:p>
            <a:pPr indent="-457200" algn="just">
              <a:lnSpc>
                <a:spcPct val="100000"/>
              </a:lnSpc>
              <a:spcBef>
                <a:spcPts val="0"/>
              </a:spcBef>
            </a:pPr>
            <a:r>
              <a:rPr lang="en-US" sz="4300" dirty="0">
                <a:latin typeface="Times New Roman" panose="02020603050405020304" pitchFamily="18" charset="0"/>
                <a:cs typeface="Times New Roman" panose="02020603050405020304" pitchFamily="18" charset="0"/>
              </a:rPr>
              <a:t>Velocity: Least-squares regression over a 5-frame sliding window; pixel displacement converted to m/s via calibrated PIXELS_PER_METER constant.</a:t>
            </a:r>
          </a:p>
          <a:p>
            <a:pPr indent="-457200" algn="just">
              <a:lnSpc>
                <a:spcPct val="100000"/>
              </a:lnSpc>
              <a:spcBef>
                <a:spcPts val="0"/>
              </a:spcBef>
            </a:pPr>
            <a:r>
              <a:rPr lang="en-US" sz="4300" dirty="0">
                <a:latin typeface="Times New Roman" panose="02020603050405020304" pitchFamily="18" charset="0"/>
                <a:cs typeface="Times New Roman" panose="02020603050405020304" pitchFamily="18" charset="0"/>
              </a:rPr>
              <a:t>Quality Filter (3 levels):</a:t>
            </a:r>
          </a:p>
          <a:p>
            <a:pPr marL="1828800" lvl="1" indent="-457200" algn="just">
              <a:lnSpc>
                <a:spcPct val="100000"/>
              </a:lnSpc>
              <a:spcBef>
                <a:spcPts val="0"/>
              </a:spcBef>
              <a:buFont typeface="+mj-lt"/>
              <a:buAutoNum type="arabicPeriod"/>
            </a:pPr>
            <a:r>
              <a:rPr lang="en-US" sz="4300" dirty="0">
                <a:latin typeface="Times New Roman" panose="02020603050405020304" pitchFamily="18" charset="0"/>
                <a:cs typeface="Times New Roman" panose="02020603050405020304" pitchFamily="18" charset="0"/>
              </a:rPr>
              <a:t>Key point confidence &gt; 0.6 for </a:t>
            </a:r>
            <a:r>
              <a:rPr lang="en-US" sz="4300" dirty="0" err="1">
                <a:latin typeface="Times New Roman" panose="02020603050405020304" pitchFamily="18" charset="0"/>
                <a:cs typeface="Times New Roman" panose="02020603050405020304" pitchFamily="18" charset="0"/>
              </a:rPr>
              <a:t>CoM</a:t>
            </a:r>
            <a:r>
              <a:rPr lang="en-US" sz="4300" dirty="0">
                <a:latin typeface="Times New Roman" panose="02020603050405020304" pitchFamily="18" charset="0"/>
                <a:cs typeface="Times New Roman" panose="02020603050405020304" pitchFamily="18" charset="0"/>
              </a:rPr>
              <a:t> computation</a:t>
            </a:r>
          </a:p>
          <a:p>
            <a:pPr marL="1828800" lvl="1" indent="-457200" algn="just">
              <a:lnSpc>
                <a:spcPct val="100000"/>
              </a:lnSpc>
              <a:spcBef>
                <a:spcPts val="0"/>
              </a:spcBef>
              <a:buFont typeface="+mj-lt"/>
              <a:buAutoNum type="arabicPeriod"/>
            </a:pPr>
            <a:r>
              <a:rPr lang="en-US" sz="4300" dirty="0">
                <a:latin typeface="Times New Roman" panose="02020603050405020304" pitchFamily="18" charset="0"/>
                <a:cs typeface="Times New Roman" panose="02020603050405020304" pitchFamily="18" charset="0"/>
              </a:rPr>
              <a:t>Physiological plausibility clamp at 12.0 m/s; poisoned history buffer cleared on discard</a:t>
            </a:r>
          </a:p>
          <a:p>
            <a:pPr marL="1828800" lvl="1" indent="-457200" algn="just">
              <a:lnSpc>
                <a:spcPct val="100000"/>
              </a:lnSpc>
              <a:spcBef>
                <a:spcPts val="0"/>
              </a:spcBef>
              <a:buFont typeface="+mj-lt"/>
              <a:buAutoNum type="arabicPeriod"/>
            </a:pPr>
            <a:r>
              <a:rPr lang="en-US" sz="4300" dirty="0">
                <a:latin typeface="Times New Roman" panose="02020603050405020304" pitchFamily="18" charset="0"/>
                <a:cs typeface="Times New Roman" panose="02020603050405020304" pitchFamily="18" charset="0"/>
              </a:rPr>
              <a:t>Peak speed updated only when both hips simultaneously exceed 0.75 confidence</a:t>
            </a:r>
          </a:p>
          <a:p>
            <a:pPr marL="0" indent="0" algn="just">
              <a:lnSpc>
                <a:spcPct val="100000"/>
              </a:lnSpc>
              <a:spcBef>
                <a:spcPts val="0"/>
              </a:spcBef>
              <a:buNone/>
            </a:pPr>
            <a:r>
              <a:rPr lang="en-US" sz="4300" dirty="0">
                <a:latin typeface="Times New Roman" panose="02020603050405020304" pitchFamily="18" charset="0"/>
                <a:cs typeface="Times New Roman" panose="02020603050405020304" pitchFamily="18" charset="0"/>
              </a:rPr>
              <a:t> </a:t>
            </a:r>
          </a:p>
          <a:p>
            <a:pPr marL="0" indent="0" algn="just">
              <a:lnSpc>
                <a:spcPct val="100000"/>
              </a:lnSpc>
              <a:spcBef>
                <a:spcPts val="0"/>
              </a:spcBef>
              <a:buNone/>
            </a:pPr>
            <a:r>
              <a:rPr lang="en-US" sz="4300" b="1" dirty="0">
                <a:latin typeface="Times New Roman" panose="02020603050405020304" pitchFamily="18" charset="0"/>
                <a:cs typeface="Times New Roman" panose="02020603050405020304" pitchFamily="18" charset="0"/>
              </a:rPr>
              <a:t>Wearable IMU System</a:t>
            </a:r>
          </a:p>
          <a:p>
            <a:pPr indent="-457200" algn="just">
              <a:lnSpc>
                <a:spcPct val="100000"/>
              </a:lnSpc>
              <a:spcBef>
                <a:spcPts val="0"/>
              </a:spcBef>
            </a:pPr>
            <a:r>
              <a:rPr lang="en-US" sz="4300" dirty="0">
                <a:latin typeface="Times New Roman" panose="02020603050405020304" pitchFamily="18" charset="0"/>
                <a:cs typeface="Times New Roman" panose="02020603050405020304" pitchFamily="18" charset="0"/>
              </a:rPr>
              <a:t>Hardware: Arduino Nano 33 BLE Rev2, BMI270 6-axis IMU (±16g range, ~104Hz). Mounted at sternum center.</a:t>
            </a:r>
          </a:p>
          <a:p>
            <a:pPr indent="-457200" algn="just">
              <a:lnSpc>
                <a:spcPct val="100000"/>
              </a:lnSpc>
              <a:spcBef>
                <a:spcPts val="0"/>
              </a:spcBef>
            </a:pPr>
            <a:r>
              <a:rPr lang="en-US" sz="4300" dirty="0">
                <a:latin typeface="Times New Roman" panose="02020603050405020304" pitchFamily="18" charset="0"/>
                <a:cs typeface="Times New Roman" panose="02020603050405020304" pitchFamily="18" charset="0"/>
              </a:rPr>
              <a:t>Signal Processing: High-pass filter (</a:t>
            </a:r>
            <a:r>
              <a:rPr lang="el-GR" sz="4300" dirty="0">
                <a:latin typeface="Times New Roman" panose="02020603050405020304" pitchFamily="18" charset="0"/>
                <a:cs typeface="Times New Roman" panose="02020603050405020304" pitchFamily="18" charset="0"/>
              </a:rPr>
              <a:t>α = 0.95) </a:t>
            </a:r>
            <a:r>
              <a:rPr lang="en-US" sz="4300" dirty="0">
                <a:latin typeface="Times New Roman" panose="02020603050405020304" pitchFamily="18" charset="0"/>
                <a:cs typeface="Times New Roman" panose="02020603050405020304" pitchFamily="18" charset="0"/>
              </a:rPr>
              <a:t>removes gravity and low-frequency drift [5]. Trapezoidal integration yields velocity. ZUPT resets velocity when |a| &lt; 2.0 m/s² for 20 consecutive samples (~200ms).</a:t>
            </a:r>
          </a:p>
          <a:p>
            <a:pPr indent="-457200" algn="just">
              <a:lnSpc>
                <a:spcPct val="100000"/>
              </a:lnSpc>
              <a:spcBef>
                <a:spcPts val="0"/>
              </a:spcBef>
            </a:pPr>
            <a:r>
              <a:rPr lang="en-US" sz="4300" dirty="0">
                <a:latin typeface="Times New Roman" panose="02020603050405020304" pitchFamily="18" charset="0"/>
                <a:cs typeface="Times New Roman" panose="02020603050405020304" pitchFamily="18" charset="0"/>
              </a:rPr>
              <a:t>Logging: 100Hz CSV via serial — timestamp, ax, ay, </a:t>
            </a:r>
            <a:r>
              <a:rPr lang="en-US" sz="4300" dirty="0" err="1">
                <a:latin typeface="Times New Roman" panose="02020603050405020304" pitchFamily="18" charset="0"/>
                <a:cs typeface="Times New Roman" panose="02020603050405020304" pitchFamily="18" charset="0"/>
              </a:rPr>
              <a:t>az</a:t>
            </a:r>
            <a:r>
              <a:rPr lang="en-US" sz="4300" dirty="0">
                <a:latin typeface="Times New Roman" panose="02020603050405020304" pitchFamily="18" charset="0"/>
                <a:cs typeface="Times New Roman" panose="02020603050405020304" pitchFamily="18" charset="0"/>
              </a:rPr>
              <a:t>, </a:t>
            </a:r>
            <a:r>
              <a:rPr lang="en-US" sz="4300" dirty="0" err="1">
                <a:latin typeface="Times New Roman" panose="02020603050405020304" pitchFamily="18" charset="0"/>
                <a:cs typeface="Times New Roman" panose="02020603050405020304" pitchFamily="18" charset="0"/>
              </a:rPr>
              <a:t>vx</a:t>
            </a:r>
            <a:r>
              <a:rPr lang="en-US" sz="4300" dirty="0">
                <a:latin typeface="Times New Roman" panose="02020603050405020304" pitchFamily="18" charset="0"/>
                <a:cs typeface="Times New Roman" panose="02020603050405020304" pitchFamily="18" charset="0"/>
              </a:rPr>
              <a:t>, </a:t>
            </a:r>
            <a:r>
              <a:rPr lang="en-US" sz="4300" dirty="0" err="1">
                <a:latin typeface="Times New Roman" panose="02020603050405020304" pitchFamily="18" charset="0"/>
                <a:cs typeface="Times New Roman" panose="02020603050405020304" pitchFamily="18" charset="0"/>
              </a:rPr>
              <a:t>vy</a:t>
            </a:r>
            <a:r>
              <a:rPr lang="en-US" sz="4300" dirty="0">
                <a:latin typeface="Times New Roman" panose="02020603050405020304" pitchFamily="18" charset="0"/>
                <a:cs typeface="Times New Roman" panose="02020603050405020304" pitchFamily="18" charset="0"/>
              </a:rPr>
              <a:t>, </a:t>
            </a:r>
            <a:r>
              <a:rPr lang="en-US" sz="4300" dirty="0" err="1">
                <a:latin typeface="Times New Roman" panose="02020603050405020304" pitchFamily="18" charset="0"/>
                <a:cs typeface="Times New Roman" panose="02020603050405020304" pitchFamily="18" charset="0"/>
              </a:rPr>
              <a:t>vz</a:t>
            </a:r>
            <a:r>
              <a:rPr lang="en-US" sz="4300" dirty="0">
                <a:latin typeface="Times New Roman" panose="02020603050405020304" pitchFamily="18" charset="0"/>
                <a:cs typeface="Times New Roman" panose="02020603050405020304" pitchFamily="18" charset="0"/>
              </a:rPr>
              <a:t>, speed, peak. Trial start/stop controlled via serial command.</a:t>
            </a:r>
          </a:p>
          <a:p>
            <a:pPr marL="0" indent="0" algn="just">
              <a:lnSpc>
                <a:spcPct val="100000"/>
              </a:lnSpc>
              <a:spcBef>
                <a:spcPts val="0"/>
              </a:spcBef>
              <a:buNone/>
            </a:pPr>
            <a:r>
              <a:rPr lang="en-US" sz="4300" dirty="0">
                <a:latin typeface="Times New Roman" panose="02020603050405020304" pitchFamily="18" charset="0"/>
                <a:cs typeface="Times New Roman" panose="02020603050405020304" pitchFamily="18" charset="0"/>
              </a:rPr>
              <a:t> </a:t>
            </a:r>
          </a:p>
          <a:p>
            <a:pPr marL="0" indent="0" algn="just">
              <a:lnSpc>
                <a:spcPct val="100000"/>
              </a:lnSpc>
              <a:spcBef>
                <a:spcPts val="0"/>
              </a:spcBef>
              <a:buNone/>
            </a:pPr>
            <a:r>
              <a:rPr lang="en-US" sz="4300" b="1" dirty="0">
                <a:latin typeface="Times New Roman" panose="02020603050405020304" pitchFamily="18" charset="0"/>
                <a:cs typeface="Times New Roman" panose="02020603050405020304" pitchFamily="18" charset="0"/>
              </a:rPr>
              <a:t>Validation Protocol</a:t>
            </a:r>
          </a:p>
          <a:p>
            <a:pPr marL="0" indent="0" algn="just">
              <a:lnSpc>
                <a:spcPct val="100000"/>
              </a:lnSpc>
              <a:spcBef>
                <a:spcPts val="0"/>
              </a:spcBef>
              <a:buNone/>
            </a:pPr>
            <a:r>
              <a:rPr lang="en-US" sz="4300" dirty="0">
                <a:latin typeface="Times New Roman" panose="02020603050405020304" pitchFamily="18" charset="0"/>
                <a:cs typeface="Times New Roman" panose="02020603050405020304" pitchFamily="18" charset="0"/>
              </a:rPr>
              <a:t>• 5-meter straight-line reference trials (walk / jog / sprint) timed by stopwatch. Both systems run simultaneously. Target accuracy: ±15% of reference. 5 repetitions per speed condition.</a:t>
            </a:r>
          </a:p>
        </p:txBody>
      </p:sp>
      <p:sp>
        <p:nvSpPr>
          <p:cNvPr id="12" name="Content Placeholder 5"/>
          <p:cNvSpPr>
            <a:spLocks noGrp="1"/>
          </p:cNvSpPr>
          <p:nvPr>
            <p:ph sz="half" idx="1"/>
          </p:nvPr>
        </p:nvSpPr>
        <p:spPr>
          <a:xfrm>
            <a:off x="16664940" y="8154235"/>
            <a:ext cx="15796260" cy="10830452"/>
          </a:xfrm>
          <a:prstGeom prst="rect">
            <a:avLst/>
          </a:prstGeom>
          <a:ln>
            <a:solidFill>
              <a:schemeClr val="tx1"/>
            </a:solidFill>
          </a:ln>
        </p:spPr>
        <p:txBody>
          <a:bodyPr anchor="t">
            <a:normAutofit/>
          </a:bodyPr>
          <a:lstStyle/>
          <a:p>
            <a:pPr marL="0" indent="0" algn="ctr">
              <a:lnSpc>
                <a:spcPct val="100000"/>
              </a:lnSpc>
              <a:spcBef>
                <a:spcPts val="0"/>
              </a:spcBef>
              <a:buNone/>
            </a:pPr>
            <a:r>
              <a:rPr lang="en-US" sz="5000" b="1" dirty="0">
                <a:latin typeface="Times New Roman" panose="02020603050405020304" pitchFamily="18" charset="0"/>
                <a:cs typeface="Times New Roman" panose="02020603050405020304" pitchFamily="18" charset="0"/>
              </a:rPr>
              <a:t>Results</a:t>
            </a:r>
          </a:p>
          <a:p>
            <a:pPr marL="0" indent="0" algn="just">
              <a:lnSpc>
                <a:spcPct val="100000"/>
              </a:lnSpc>
              <a:spcBef>
                <a:spcPts val="0"/>
              </a:spcBef>
              <a:buNone/>
            </a:pPr>
            <a:endParaRPr lang="en-US" sz="8000" dirty="0">
              <a:latin typeface="Times New Roman" panose="02020603050405020304" pitchFamily="18" charset="0"/>
              <a:cs typeface="Times New Roman" panose="02020603050405020304" pitchFamily="18" charset="0"/>
            </a:endParaRPr>
          </a:p>
        </p:txBody>
      </p:sp>
      <p:sp>
        <p:nvSpPr>
          <p:cNvPr id="13" name="Content Placeholder 5"/>
          <p:cNvSpPr>
            <a:spLocks noGrp="1"/>
          </p:cNvSpPr>
          <p:nvPr>
            <p:ph sz="half" idx="1"/>
          </p:nvPr>
        </p:nvSpPr>
        <p:spPr>
          <a:xfrm>
            <a:off x="16664938" y="19312706"/>
            <a:ext cx="15796260" cy="10976911"/>
          </a:xfrm>
          <a:prstGeom prst="rect">
            <a:avLst/>
          </a:prstGeom>
          <a:ln>
            <a:solidFill>
              <a:schemeClr val="tx1"/>
            </a:solidFill>
          </a:ln>
        </p:spPr>
        <p:txBody>
          <a:bodyPr anchor="t">
            <a:normAutofit fontScale="25000" lnSpcReduction="20000"/>
          </a:bodyPr>
          <a:lstStyle/>
          <a:p>
            <a:pPr marL="0" indent="0" algn="ctr">
              <a:lnSpc>
                <a:spcPct val="100000"/>
              </a:lnSpc>
              <a:spcBef>
                <a:spcPts val="0"/>
              </a:spcBef>
              <a:buNone/>
            </a:pPr>
            <a:r>
              <a:rPr lang="en-US" sz="20000" b="1" dirty="0">
                <a:latin typeface="Times New Roman" panose="02020603050405020304" pitchFamily="18" charset="0"/>
                <a:cs typeface="Times New Roman" panose="02020603050405020304" pitchFamily="18" charset="0"/>
              </a:rPr>
              <a:t>Discussion</a:t>
            </a:r>
          </a:p>
          <a:p>
            <a:pPr marL="0" indent="0" algn="just">
              <a:lnSpc>
                <a:spcPct val="100000"/>
              </a:lnSpc>
              <a:spcBef>
                <a:spcPts val="0"/>
              </a:spcBef>
              <a:buNone/>
            </a:pPr>
            <a:endParaRPr lang="en-US" sz="12000" b="1" dirty="0">
              <a:latin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sz="12000" b="1" dirty="0">
                <a:latin typeface="Times New Roman" panose="02020603050405020304" pitchFamily="18" charset="0"/>
                <a:cs typeface="Times New Roman" panose="02020603050405020304" pitchFamily="18" charset="0"/>
              </a:rPr>
              <a:t>Complementary System Tradeoffs:</a:t>
            </a:r>
          </a:p>
          <a:p>
            <a:pPr marL="0" indent="0" algn="just">
              <a:lnSpc>
                <a:spcPct val="100000"/>
              </a:lnSpc>
              <a:spcBef>
                <a:spcPts val="0"/>
              </a:spcBef>
              <a:buNone/>
            </a:pPr>
            <a:r>
              <a:rPr lang="en-US" sz="12000" dirty="0">
                <a:latin typeface="Times New Roman" panose="02020603050405020304" pitchFamily="18" charset="0"/>
                <a:cs typeface="Times New Roman" panose="02020603050405020304" pitchFamily="18" charset="0"/>
              </a:rPr>
              <a:t>The CV and IMU systems exhibit fundamentally complementary failure modes. The CV system degrades under occlusion, frame exit, and inverted body positions — conditions common in gymnastics — but requires no athlete-worn hardware and produces no drift over time. The IMU is completely unaffected by body orientation but accumulates velocity drift through double-integration of noisy accelerometer data, and cannot independently reconstruct spatial position or displacement.</a:t>
            </a:r>
          </a:p>
          <a:p>
            <a:pPr marL="0" indent="0" algn="just">
              <a:lnSpc>
                <a:spcPct val="100000"/>
              </a:lnSpc>
              <a:spcBef>
                <a:spcPts val="0"/>
              </a:spcBef>
              <a:buNone/>
            </a:pPr>
            <a:r>
              <a:rPr lang="en-US" sz="12000" dirty="0">
                <a:latin typeface="Times New Roman" panose="02020603050405020304" pitchFamily="18" charset="0"/>
                <a:cs typeface="Times New Roman" panose="02020603050405020304" pitchFamily="18" charset="0"/>
              </a:rPr>
              <a:t> </a:t>
            </a:r>
          </a:p>
          <a:p>
            <a:pPr marL="0" indent="0" algn="just">
              <a:lnSpc>
                <a:spcPct val="100000"/>
              </a:lnSpc>
              <a:spcBef>
                <a:spcPts val="0"/>
              </a:spcBef>
              <a:buNone/>
            </a:pPr>
            <a:r>
              <a:rPr lang="en-US" sz="12000" b="1" dirty="0">
                <a:latin typeface="Times New Roman" panose="02020603050405020304" pitchFamily="18" charset="0"/>
                <a:cs typeface="Times New Roman" panose="02020603050405020304" pitchFamily="18" charset="0"/>
              </a:rPr>
              <a:t>Velocity Artifact Rejection — Three-Level Filter:</a:t>
            </a:r>
          </a:p>
          <a:p>
            <a:pPr marL="0" indent="0" algn="just">
              <a:lnSpc>
                <a:spcPct val="100000"/>
              </a:lnSpc>
              <a:spcBef>
                <a:spcPts val="0"/>
              </a:spcBef>
              <a:buNone/>
            </a:pPr>
            <a:r>
              <a:rPr lang="en-US" sz="12000" dirty="0">
                <a:latin typeface="Times New Roman" panose="02020603050405020304" pitchFamily="18" charset="0"/>
                <a:cs typeface="Times New Roman" panose="02020603050405020304" pitchFamily="18" charset="0"/>
              </a:rPr>
              <a:t>Preliminary testing revealed spurious peak velocity readings (&gt;10 m/s) caused by erratic </a:t>
            </a:r>
            <a:r>
              <a:rPr lang="en-US" sz="12000" dirty="0" err="1">
                <a:latin typeface="Times New Roman" panose="02020603050405020304" pitchFamily="18" charset="0"/>
                <a:cs typeface="Times New Roman" panose="02020603050405020304" pitchFamily="18" charset="0"/>
              </a:rPr>
              <a:t>keypoint</a:t>
            </a:r>
            <a:r>
              <a:rPr lang="en-US" sz="12000" dirty="0">
                <a:latin typeface="Times New Roman" panose="02020603050405020304" pitchFamily="18" charset="0"/>
                <a:cs typeface="Times New Roman" panose="02020603050405020304" pitchFamily="18" charset="0"/>
              </a:rPr>
              <a:t> assignment during close-range or partial detection. Three filtering layers were implemented in response:</a:t>
            </a:r>
          </a:p>
          <a:p>
            <a:pPr indent="-457200" algn="just">
              <a:lnSpc>
                <a:spcPct val="100000"/>
              </a:lnSpc>
              <a:spcBef>
                <a:spcPts val="0"/>
              </a:spcBef>
            </a:pPr>
            <a:r>
              <a:rPr lang="en-US" sz="12000" dirty="0">
                <a:latin typeface="Times New Roman" panose="02020603050405020304" pitchFamily="18" charset="0"/>
                <a:cs typeface="Times New Roman" panose="02020603050405020304" pitchFamily="18" charset="0"/>
              </a:rPr>
              <a:t>Level 1 — Confidence Threshold: Hip </a:t>
            </a:r>
            <a:r>
              <a:rPr lang="en-US" sz="12000" dirty="0" err="1">
                <a:latin typeface="Times New Roman" panose="02020603050405020304" pitchFamily="18" charset="0"/>
                <a:cs typeface="Times New Roman" panose="02020603050405020304" pitchFamily="18" charset="0"/>
              </a:rPr>
              <a:t>keypoint</a:t>
            </a:r>
            <a:r>
              <a:rPr lang="en-US" sz="12000" dirty="0">
                <a:latin typeface="Times New Roman" panose="02020603050405020304" pitchFamily="18" charset="0"/>
                <a:cs typeface="Times New Roman" panose="02020603050405020304" pitchFamily="18" charset="0"/>
              </a:rPr>
              <a:t> confidence &gt;0.6 required for </a:t>
            </a:r>
            <a:r>
              <a:rPr lang="en-US" sz="12000" dirty="0" err="1">
                <a:latin typeface="Times New Roman" panose="02020603050405020304" pitchFamily="18" charset="0"/>
                <a:cs typeface="Times New Roman" panose="02020603050405020304" pitchFamily="18" charset="0"/>
              </a:rPr>
              <a:t>CoM</a:t>
            </a:r>
            <a:r>
              <a:rPr lang="en-US" sz="12000" dirty="0">
                <a:latin typeface="Times New Roman" panose="02020603050405020304" pitchFamily="18" charset="0"/>
                <a:cs typeface="Times New Roman" panose="02020603050405020304" pitchFamily="18" charset="0"/>
              </a:rPr>
              <a:t> computation; &gt;0.75 to update peak speed record. Erratic close-range detections typically score 0.3–0.5, well below both thresholds.</a:t>
            </a:r>
          </a:p>
          <a:p>
            <a:pPr indent="-457200" algn="just">
              <a:lnSpc>
                <a:spcPct val="100000"/>
              </a:lnSpc>
              <a:spcBef>
                <a:spcPts val="0"/>
              </a:spcBef>
            </a:pPr>
            <a:r>
              <a:rPr lang="en-US" sz="12000" dirty="0">
                <a:latin typeface="Times New Roman" panose="02020603050405020304" pitchFamily="18" charset="0"/>
                <a:cs typeface="Times New Roman" panose="02020603050405020304" pitchFamily="18" charset="0"/>
              </a:rPr>
              <a:t>Level 2 — Plausibility Clamp: Readings above 12.0 m/s are discarded as physically impossible artifacts. The history buffer is cleared on discard to prevent poisoned positions from propagating into subsequent frames. Ceiling is consistent with published peak human sprint biomechanics.</a:t>
            </a:r>
          </a:p>
          <a:p>
            <a:pPr indent="-457200" algn="just">
              <a:lnSpc>
                <a:spcPct val="100000"/>
              </a:lnSpc>
              <a:spcBef>
                <a:spcPts val="0"/>
              </a:spcBef>
            </a:pPr>
            <a:r>
              <a:rPr lang="en-US" sz="12000" dirty="0">
                <a:latin typeface="Times New Roman" panose="02020603050405020304" pitchFamily="18" charset="0"/>
                <a:cs typeface="Times New Roman" panose="02020603050405020304" pitchFamily="18" charset="0"/>
              </a:rPr>
              <a:t>Level 3 — Peak Guard: Peak speed is updated only when both hip </a:t>
            </a:r>
            <a:r>
              <a:rPr lang="en-US" sz="12000" dirty="0" err="1">
                <a:latin typeface="Times New Roman" panose="02020603050405020304" pitchFamily="18" charset="0"/>
                <a:cs typeface="Times New Roman" panose="02020603050405020304" pitchFamily="18" charset="0"/>
              </a:rPr>
              <a:t>keypoints</a:t>
            </a:r>
            <a:r>
              <a:rPr lang="en-US" sz="12000" dirty="0">
                <a:latin typeface="Times New Roman" panose="02020603050405020304" pitchFamily="18" charset="0"/>
                <a:cs typeface="Times New Roman" panose="02020603050405020304" pitchFamily="18" charset="0"/>
              </a:rPr>
              <a:t> simultaneously exceed 0.75 confidence, ensuring the reported maximum reflects a frame of clean, complete detection.</a:t>
            </a:r>
          </a:p>
          <a:p>
            <a:pPr marL="0" indent="0" algn="just">
              <a:lnSpc>
                <a:spcPct val="100000"/>
              </a:lnSpc>
              <a:spcBef>
                <a:spcPts val="0"/>
              </a:spcBef>
              <a:buNone/>
            </a:pPr>
            <a:r>
              <a:rPr lang="en-US" sz="12000" dirty="0">
                <a:latin typeface="Times New Roman" panose="02020603050405020304" pitchFamily="18" charset="0"/>
                <a:cs typeface="Times New Roman" panose="02020603050405020304" pitchFamily="18" charset="0"/>
              </a:rPr>
              <a:t> </a:t>
            </a:r>
          </a:p>
          <a:p>
            <a:pPr marL="0" indent="0" algn="just">
              <a:lnSpc>
                <a:spcPct val="100000"/>
              </a:lnSpc>
              <a:spcBef>
                <a:spcPts val="0"/>
              </a:spcBef>
              <a:buNone/>
            </a:pPr>
            <a:r>
              <a:rPr lang="en-US" sz="12000" b="1" dirty="0">
                <a:latin typeface="Times New Roman" panose="02020603050405020304" pitchFamily="18" charset="0"/>
                <a:cs typeface="Times New Roman" panose="02020603050405020304" pitchFamily="18" charset="0"/>
              </a:rPr>
              <a:t>Remaining Limitations and Future Work:</a:t>
            </a:r>
          </a:p>
          <a:p>
            <a:pPr marL="0" indent="0" algn="just">
              <a:lnSpc>
                <a:spcPct val="100000"/>
              </a:lnSpc>
              <a:spcBef>
                <a:spcPts val="0"/>
              </a:spcBef>
              <a:buNone/>
            </a:pPr>
            <a:r>
              <a:rPr lang="en-US" sz="12000" dirty="0">
                <a:latin typeface="Times New Roman" panose="02020603050405020304" pitchFamily="18" charset="0"/>
                <a:cs typeface="Times New Roman" panose="02020603050405020304" pitchFamily="18" charset="0"/>
              </a:rPr>
              <a:t>Single-camera 2D tracking cannot recover out-of-plane velocity components. Skills performed in the sagittal plane reduce bilateral hip </a:t>
            </a:r>
            <a:r>
              <a:rPr lang="en-US" sz="12000" dirty="0" err="1">
                <a:latin typeface="Times New Roman" panose="02020603050405020304" pitchFamily="18" charset="0"/>
                <a:cs typeface="Times New Roman" panose="02020603050405020304" pitchFamily="18" charset="0"/>
              </a:rPr>
              <a:t>keypoint</a:t>
            </a:r>
            <a:r>
              <a:rPr lang="en-US" sz="12000" dirty="0">
                <a:latin typeface="Times New Roman" panose="02020603050405020304" pitchFamily="18" charset="0"/>
                <a:cs typeface="Times New Roman" panose="02020603050405020304" pitchFamily="18" charset="0"/>
              </a:rPr>
              <a:t> separation, degrading the </a:t>
            </a:r>
            <a:r>
              <a:rPr lang="en-US" sz="12000" dirty="0" err="1">
                <a:latin typeface="Times New Roman" panose="02020603050405020304" pitchFamily="18" charset="0"/>
                <a:cs typeface="Times New Roman" panose="02020603050405020304" pitchFamily="18" charset="0"/>
              </a:rPr>
              <a:t>CoM</a:t>
            </a:r>
            <a:r>
              <a:rPr lang="en-US" sz="12000" dirty="0">
                <a:latin typeface="Times New Roman" panose="02020603050405020304" pitchFamily="18" charset="0"/>
                <a:cs typeface="Times New Roman" panose="02020603050405020304" pitchFamily="18" charset="0"/>
              </a:rPr>
              <a:t> proxy. Inverted positions (handstands, aerials) reduce YOLOv8 detection confidence even when the athlete is fully in frame. Proposed extensions: multi-camera 3D triangulation, gymnastics-specific pose model fine-tuning, and IMU-CV sensor fusion to combine orientation-independence with drift-free spatial tracking.</a:t>
            </a:r>
          </a:p>
        </p:txBody>
      </p:sp>
      <p:sp>
        <p:nvSpPr>
          <p:cNvPr id="14" name="Content Placeholder 5"/>
          <p:cNvSpPr>
            <a:spLocks noGrp="1"/>
          </p:cNvSpPr>
          <p:nvPr>
            <p:ph sz="half" idx="1"/>
          </p:nvPr>
        </p:nvSpPr>
        <p:spPr>
          <a:xfrm>
            <a:off x="16664938" y="30617636"/>
            <a:ext cx="15796260" cy="4343967"/>
          </a:xfrm>
          <a:prstGeom prst="rect">
            <a:avLst/>
          </a:prstGeom>
          <a:ln>
            <a:solidFill>
              <a:schemeClr val="tx1"/>
            </a:solidFill>
          </a:ln>
        </p:spPr>
        <p:txBody>
          <a:bodyPr anchor="t">
            <a:normAutofit fontScale="25000" lnSpcReduction="20000"/>
          </a:bodyPr>
          <a:lstStyle/>
          <a:p>
            <a:pPr marL="0" indent="0" algn="ctr">
              <a:lnSpc>
                <a:spcPct val="100000"/>
              </a:lnSpc>
              <a:spcBef>
                <a:spcPts val="0"/>
              </a:spcBef>
              <a:buNone/>
            </a:pPr>
            <a:r>
              <a:rPr lang="en-US" sz="20000" b="1" dirty="0">
                <a:latin typeface="Times New Roman" panose="02020603050405020304" pitchFamily="18" charset="0"/>
                <a:cs typeface="Times New Roman" panose="02020603050405020304" pitchFamily="18" charset="0"/>
              </a:rPr>
              <a:t>Findings and Importance</a:t>
            </a:r>
          </a:p>
          <a:p>
            <a:pPr marL="0" indent="0" algn="just">
              <a:buNone/>
            </a:pPr>
            <a:r>
              <a:rPr lang="en-US" sz="12000">
                <a:latin typeface="Times New Roman" panose="02020603050405020304" pitchFamily="18" charset="0"/>
                <a:cs typeface="Times New Roman" panose="02020603050405020304" pitchFamily="18" charset="0"/>
              </a:rPr>
              <a:t>Full real-time pose estimation pipeline deployed on embedded hardware (Jetson Orin Nano) with no external compute required — total hardware BOM under $500, making biomechanical velocity tracking accessible outside the laboratory environment [4].</a:t>
            </a:r>
          </a:p>
          <a:p>
            <a:pPr marL="0" indent="0" algn="just">
              <a:buNone/>
            </a:pPr>
            <a:r>
              <a:rPr lang="en-US" sz="12000">
                <a:latin typeface="Times New Roman" panose="02020603050405020304" pitchFamily="18" charset="0"/>
                <a:cs typeface="Times New Roman" panose="02020603050405020304" pitchFamily="18" charset="0"/>
              </a:rPr>
              <a:t>Dual-system </a:t>
            </a:r>
            <a:r>
              <a:rPr lang="en-US" sz="12000" dirty="0">
                <a:latin typeface="Times New Roman" panose="02020603050405020304" pitchFamily="18" charset="0"/>
                <a:cs typeface="Times New Roman" panose="02020603050405020304" pitchFamily="18" charset="0"/>
              </a:rPr>
              <a:t>architecture reveals complementary failure modes between vision and inertial sensing, providing the rationale and design groundwork for future IMU-CV sensor fusion.</a:t>
            </a:r>
          </a:p>
          <a:p>
            <a:pPr marL="0" indent="0" algn="just">
              <a:buNone/>
            </a:pPr>
            <a:r>
              <a:rPr lang="en-US" sz="12000" dirty="0">
                <a:latin typeface="Times New Roman" panose="02020603050405020304" pitchFamily="18" charset="0"/>
                <a:cs typeface="Times New Roman" panose="02020603050405020304" pitchFamily="18" charset="0"/>
              </a:rPr>
              <a:t>Three-level velocity quality filter is sport-agnostic and replicable — applicable to any </a:t>
            </a:r>
            <a:r>
              <a:rPr lang="en-US" sz="12000" dirty="0" err="1">
                <a:latin typeface="Times New Roman" panose="02020603050405020304" pitchFamily="18" charset="0"/>
                <a:cs typeface="Times New Roman" panose="02020603050405020304" pitchFamily="18" charset="0"/>
              </a:rPr>
              <a:t>markerless</a:t>
            </a:r>
            <a:r>
              <a:rPr lang="en-US" sz="12000" dirty="0">
                <a:latin typeface="Times New Roman" panose="02020603050405020304" pitchFamily="18" charset="0"/>
                <a:cs typeface="Times New Roman" panose="02020603050405020304" pitchFamily="18" charset="0"/>
              </a:rPr>
              <a:t> computer vision velocity tracking application regardless of sport or apparatus.</a:t>
            </a:r>
          </a:p>
          <a:p>
            <a:pPr marL="0" indent="0" algn="ctr">
              <a:lnSpc>
                <a:spcPct val="100000"/>
              </a:lnSpc>
              <a:spcBef>
                <a:spcPts val="0"/>
              </a:spcBef>
              <a:buNone/>
            </a:pPr>
            <a:endParaRPr lang="en-US" sz="7200" dirty="0">
              <a:latin typeface="Times New Roman" panose="02020603050405020304" pitchFamily="18" charset="0"/>
              <a:cs typeface="Times New Roman" panose="02020603050405020304" pitchFamily="18" charset="0"/>
            </a:endParaRPr>
          </a:p>
        </p:txBody>
      </p:sp>
      <p:sp>
        <p:nvSpPr>
          <p:cNvPr id="17" name="Content Placeholder 5"/>
          <p:cNvSpPr txBox="1">
            <a:spLocks/>
          </p:cNvSpPr>
          <p:nvPr/>
        </p:nvSpPr>
        <p:spPr>
          <a:xfrm>
            <a:off x="16664938" y="35441303"/>
            <a:ext cx="15796260" cy="4008283"/>
          </a:xfrm>
          <a:prstGeom prst="rect">
            <a:avLst/>
          </a:prstGeom>
          <a:ln>
            <a:solidFill>
              <a:schemeClr val="tx1"/>
            </a:solidFill>
          </a:ln>
        </p:spPr>
        <p:txBody>
          <a:bodyPr vert="horz" lIns="91440" tIns="45720" rIns="91440" bIns="45720" rtlCol="0" anchor="t">
            <a:normAutofit lnSpcReduction="10000"/>
          </a:bodyPr>
          <a:lst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US" sz="5000" b="1" dirty="0">
                <a:latin typeface="Times New Roman" panose="02020603050405020304" pitchFamily="18" charset="0"/>
                <a:cs typeface="Times New Roman" panose="02020603050405020304" pitchFamily="18" charset="0"/>
              </a:rPr>
              <a:t>References / Acknowledgments</a:t>
            </a:r>
          </a:p>
          <a:p>
            <a:pPr marL="0" indent="0" algn="just">
              <a:lnSpc>
                <a:spcPct val="100000"/>
              </a:lnSpc>
              <a:spcBef>
                <a:spcPts val="0"/>
              </a:spcBef>
              <a:buFont typeface="Arial" panose="020B0604020202020204" pitchFamily="34" charset="0"/>
              <a:buNone/>
            </a:pPr>
            <a:r>
              <a:rPr lang="en-US" sz="2000" dirty="0">
                <a:latin typeface="Times New Roman" panose="02020603050405020304" pitchFamily="18" charset="0"/>
                <a:cs typeface="Times New Roman" panose="02020603050405020304" pitchFamily="18" charset="0"/>
              </a:rPr>
              <a:t>[1] Huynh, Q. D., et al., 2023, "AI Enhanced Resistance Training: Segmentation and Velocity Tracking Using Computer Vision," Proc. 2023 International Conference on Digital Image Computing: Techniques and Applications (DICTA), pp. 494–500, doi:10.1109/dicta60407.2023.00074\</a:t>
            </a:r>
          </a:p>
          <a:p>
            <a:pPr marL="0" indent="0" algn="just">
              <a:lnSpc>
                <a:spcPct val="100000"/>
              </a:lnSpc>
              <a:spcBef>
                <a:spcPts val="0"/>
              </a:spcBef>
              <a:buFont typeface="Arial" panose="020B0604020202020204" pitchFamily="34" charset="0"/>
              <a:buNone/>
            </a:pPr>
            <a:r>
              <a:rPr lang="en-US" sz="2000" dirty="0">
                <a:latin typeface="Times New Roman" panose="02020603050405020304" pitchFamily="18" charset="0"/>
                <a:cs typeface="Times New Roman" panose="02020603050405020304" pitchFamily="18" charset="0"/>
              </a:rPr>
              <a:t>[2] Harringe, M. L., </a:t>
            </a:r>
            <a:r>
              <a:rPr lang="en-US" sz="2000" dirty="0" err="1">
                <a:latin typeface="Times New Roman" panose="02020603050405020304" pitchFamily="18" charset="0"/>
                <a:cs typeface="Times New Roman" panose="02020603050405020304" pitchFamily="18" charset="0"/>
              </a:rPr>
              <a:t>Renström</a:t>
            </a:r>
            <a:r>
              <a:rPr lang="en-US" sz="2000" dirty="0">
                <a:latin typeface="Times New Roman" panose="02020603050405020304" pitchFamily="18" charset="0"/>
                <a:cs typeface="Times New Roman" panose="02020603050405020304" pitchFamily="18" charset="0"/>
              </a:rPr>
              <a:t>, P., and Werner, S., 2007, "Injury Incidence, Mechanism and Diagnosis in Top-Level </a:t>
            </a:r>
            <a:r>
              <a:rPr lang="en-US" sz="2000" dirty="0" err="1">
                <a:latin typeface="Times New Roman" panose="02020603050405020304" pitchFamily="18" charset="0"/>
                <a:cs typeface="Times New Roman" panose="02020603050405020304" pitchFamily="18" charset="0"/>
              </a:rPr>
              <a:t>Teamgym</a:t>
            </a:r>
            <a:r>
              <a:rPr lang="en-US" sz="2000" dirty="0">
                <a:latin typeface="Times New Roman" panose="02020603050405020304" pitchFamily="18" charset="0"/>
                <a:cs typeface="Times New Roman" panose="02020603050405020304" pitchFamily="18" charset="0"/>
              </a:rPr>
              <a:t>: A Prospective Study Conducted Over One Season," Scandinavian Journal of Medicine &amp; Science in Sports, 17(2), pp. 115–119, doi:10.1111/j.1600-0838.2006.00546.x</a:t>
            </a:r>
          </a:p>
          <a:p>
            <a:pPr marL="0" indent="0" algn="just">
              <a:lnSpc>
                <a:spcPct val="100000"/>
              </a:lnSpc>
              <a:spcBef>
                <a:spcPts val="0"/>
              </a:spcBef>
              <a:buFont typeface="Arial" panose="020B0604020202020204" pitchFamily="34" charset="0"/>
              <a:buNone/>
            </a:pPr>
            <a:r>
              <a:rPr lang="en-US" sz="2000" dirty="0">
                <a:latin typeface="Times New Roman" panose="02020603050405020304" pitchFamily="18" charset="0"/>
                <a:cs typeface="Times New Roman" panose="02020603050405020304" pitchFamily="18" charset="0"/>
              </a:rPr>
              <a:t>[3] Terven, J., and Cordova-Esparza, D.-M., 2023, "A Comprehensive Review of YOLO: From YOLOv1 to YOLOv8 and Beyond," arXiv:2304.00501, doi:10.48550/arXiv.2304.00501</a:t>
            </a:r>
          </a:p>
          <a:p>
            <a:pPr marL="0" indent="0" algn="just">
              <a:lnSpc>
                <a:spcPct val="100000"/>
              </a:lnSpc>
              <a:spcBef>
                <a:spcPts val="0"/>
              </a:spcBef>
              <a:buFont typeface="Arial" panose="020B0604020202020204" pitchFamily="34" charset="0"/>
              <a:buNone/>
            </a:pPr>
            <a:r>
              <a:rPr lang="en-US" sz="2000" dirty="0">
                <a:latin typeface="Times New Roman" panose="02020603050405020304" pitchFamily="18" charset="0"/>
                <a:cs typeface="Times New Roman" panose="02020603050405020304" pitchFamily="18" charset="0"/>
              </a:rPr>
              <a:t>[4] Colyer, S. L., Evans, M., Cosker, D. P., and Salo, A. I. T., 2018, "A Review of the Evolution of Vision-Based Motion Analysis and the Integration of Advanced Computer Vision Methods Towards Developing a </a:t>
            </a:r>
            <a:r>
              <a:rPr lang="en-US" sz="2000" dirty="0" err="1">
                <a:latin typeface="Times New Roman" panose="02020603050405020304" pitchFamily="18" charset="0"/>
                <a:cs typeface="Times New Roman" panose="02020603050405020304" pitchFamily="18" charset="0"/>
              </a:rPr>
              <a:t>Markerless</a:t>
            </a:r>
            <a:r>
              <a:rPr lang="en-US" sz="2000" dirty="0">
                <a:latin typeface="Times New Roman" panose="02020603050405020304" pitchFamily="18" charset="0"/>
                <a:cs typeface="Times New Roman" panose="02020603050405020304" pitchFamily="18" charset="0"/>
              </a:rPr>
              <a:t> System," Sports Medicine - Open, 4(1), p. 24, doi:10.1186/s40798-018-0139-y</a:t>
            </a:r>
          </a:p>
          <a:p>
            <a:pPr marL="0" indent="0" algn="just">
              <a:lnSpc>
                <a:spcPct val="100000"/>
              </a:lnSpc>
              <a:spcBef>
                <a:spcPts val="0"/>
              </a:spcBef>
              <a:buFont typeface="Arial" panose="020B0604020202020204" pitchFamily="34" charset="0"/>
              <a:buNone/>
            </a:pPr>
            <a:r>
              <a:rPr lang="en-US" sz="2000" dirty="0">
                <a:latin typeface="Times New Roman" panose="02020603050405020304" pitchFamily="18" charset="0"/>
                <a:cs typeface="Times New Roman" panose="02020603050405020304" pitchFamily="18" charset="0"/>
              </a:rPr>
              <a:t>[5] van </a:t>
            </a:r>
            <a:r>
              <a:rPr lang="en-US" sz="2000" dirty="0" err="1">
                <a:latin typeface="Times New Roman" panose="02020603050405020304" pitchFamily="18" charset="0"/>
                <a:cs typeface="Times New Roman" panose="02020603050405020304" pitchFamily="18" charset="0"/>
              </a:rPr>
              <a:t>Hees</a:t>
            </a:r>
            <a:r>
              <a:rPr lang="en-US" sz="2000" dirty="0">
                <a:latin typeface="Times New Roman" panose="02020603050405020304" pitchFamily="18" charset="0"/>
                <a:cs typeface="Times New Roman" panose="02020603050405020304" pitchFamily="18" charset="0"/>
              </a:rPr>
              <a:t>, V. T., </a:t>
            </a:r>
            <a:r>
              <a:rPr lang="en-US" sz="2000" dirty="0" err="1">
                <a:latin typeface="Times New Roman" panose="02020603050405020304" pitchFamily="18" charset="0"/>
                <a:cs typeface="Times New Roman" panose="02020603050405020304" pitchFamily="18" charset="0"/>
              </a:rPr>
              <a:t>Gorzelniak</a:t>
            </a:r>
            <a:r>
              <a:rPr lang="en-US" sz="2000" dirty="0">
                <a:latin typeface="Times New Roman" panose="02020603050405020304" pitchFamily="18" charset="0"/>
                <a:cs typeface="Times New Roman" panose="02020603050405020304" pitchFamily="18" charset="0"/>
              </a:rPr>
              <a:t>, L., Dean León, E. C., Eder, M., Pias, M., Taherian, S., Ekelund, U., </a:t>
            </a:r>
            <a:r>
              <a:rPr lang="en-US" sz="2000" dirty="0" err="1">
                <a:latin typeface="Times New Roman" panose="02020603050405020304" pitchFamily="18" charset="0"/>
                <a:cs typeface="Times New Roman" panose="02020603050405020304" pitchFamily="18" charset="0"/>
              </a:rPr>
              <a:t>Renström</a:t>
            </a:r>
            <a:r>
              <a:rPr lang="en-US" sz="2000" dirty="0">
                <a:latin typeface="Times New Roman" panose="02020603050405020304" pitchFamily="18" charset="0"/>
                <a:cs typeface="Times New Roman" panose="02020603050405020304" pitchFamily="18" charset="0"/>
              </a:rPr>
              <a:t>, F., Franks, P. W., Horsch, A., and Brage, S., 2013, "Separating Movement and Gravity Components in an Acceleration Signal and Implications for the Assessment of Human Daily Physical Activity," </a:t>
            </a:r>
            <a:r>
              <a:rPr lang="en-US" sz="2000" dirty="0" err="1">
                <a:latin typeface="Times New Roman" panose="02020603050405020304" pitchFamily="18" charset="0"/>
                <a:cs typeface="Times New Roman" panose="02020603050405020304" pitchFamily="18" charset="0"/>
              </a:rPr>
              <a:t>PLoS</a:t>
            </a:r>
            <a:r>
              <a:rPr lang="en-US" sz="2000" dirty="0">
                <a:latin typeface="Times New Roman" panose="02020603050405020304" pitchFamily="18" charset="0"/>
                <a:cs typeface="Times New Roman" panose="02020603050405020304" pitchFamily="18" charset="0"/>
              </a:rPr>
              <a:t> ONE, 8(4), p. e61691, doi:10.1371/journal.pone.0061691</a:t>
            </a:r>
          </a:p>
        </p:txBody>
      </p:sp>
      <p:cxnSp>
        <p:nvCxnSpPr>
          <p:cNvPr id="19" name="Straight Connector 18"/>
          <p:cNvCxnSpPr/>
          <p:nvPr/>
        </p:nvCxnSpPr>
        <p:spPr>
          <a:xfrm>
            <a:off x="457199" y="39850142"/>
            <a:ext cx="320040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199" y="40504992"/>
            <a:ext cx="5157216" cy="2996184"/>
          </a:xfrm>
          <a:prstGeom prst="rect">
            <a:avLst/>
          </a:prstGeom>
        </p:spPr>
      </p:pic>
      <p:pic>
        <p:nvPicPr>
          <p:cNvPr id="21" name="Picture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134141" y="40772957"/>
            <a:ext cx="6327058" cy="1831016"/>
          </a:xfrm>
          <a:prstGeom prst="rect">
            <a:avLst/>
          </a:prstGeom>
        </p:spPr>
      </p:pic>
      <p:sp>
        <p:nvSpPr>
          <p:cNvPr id="22" name="TextBox 21"/>
          <p:cNvSpPr txBox="1"/>
          <p:nvPr/>
        </p:nvSpPr>
        <p:spPr>
          <a:xfrm>
            <a:off x="8140371" y="40257304"/>
            <a:ext cx="17049135" cy="2862322"/>
          </a:xfrm>
          <a:prstGeom prst="rect">
            <a:avLst/>
          </a:prstGeom>
          <a:noFill/>
        </p:spPr>
        <p:txBody>
          <a:bodyPr wrap="square" rtlCol="0">
            <a:spAutoFit/>
          </a:bodyPr>
          <a:lstStyle/>
          <a:p>
            <a:pPr algn="ctr"/>
            <a:r>
              <a:rPr lang="en-US" sz="6000" b="1" dirty="0">
                <a:latin typeface="Times New Roman" panose="02020603050405020304" pitchFamily="18" charset="0"/>
                <a:cs typeface="Times New Roman" panose="02020603050405020304" pitchFamily="18" charset="0"/>
              </a:rPr>
              <a:t>2026 Student Research Symposium</a:t>
            </a:r>
          </a:p>
          <a:p>
            <a:pPr algn="ctr"/>
            <a:r>
              <a:rPr lang="en-US" sz="6000" b="1" dirty="0">
                <a:latin typeface="Times New Roman" panose="02020603050405020304" pitchFamily="18" charset="0"/>
                <a:cs typeface="Times New Roman" panose="02020603050405020304" pitchFamily="18" charset="0"/>
              </a:rPr>
              <a:t>Statesboro, Georgia</a:t>
            </a:r>
          </a:p>
          <a:p>
            <a:pPr algn="ctr"/>
            <a:r>
              <a:rPr lang="en-US" sz="6000" b="1" dirty="0">
                <a:latin typeface="Times New Roman" panose="02020603050405020304" pitchFamily="18" charset="0"/>
                <a:cs typeface="Times New Roman" panose="02020603050405020304" pitchFamily="18" charset="0"/>
              </a:rPr>
              <a:t>April 24, 2026</a:t>
            </a:r>
          </a:p>
        </p:txBody>
      </p:sp>
      <p:pic>
        <p:nvPicPr>
          <p:cNvPr id="1026" name="Picture 2" descr="Arduino Nano 33 BLE Sense Rev2 | AI &amp; IoT Development — Arduino Online Shop">
            <a:extLst>
              <a:ext uri="{FF2B5EF4-FFF2-40B4-BE49-F238E27FC236}">
                <a16:creationId xmlns:a16="http://schemas.microsoft.com/office/drawing/2014/main" id="{BD122D54-21C9-B037-FD71-2E544F4806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7290" y="2966776"/>
            <a:ext cx="5685088" cy="426533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he Complete Guide to Human Pose Estimation - Kemtai">
            <a:extLst>
              <a:ext uri="{FF2B5EF4-FFF2-40B4-BE49-F238E27FC236}">
                <a16:creationId xmlns:a16="http://schemas.microsoft.com/office/drawing/2014/main" id="{AB76B293-6B8D-075E-6D3C-7A6919292A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686035" y="3451757"/>
            <a:ext cx="6315075" cy="314325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0B61D45A-973D-4AA4-7F9B-038EE7EF2434}"/>
              </a:ext>
            </a:extLst>
          </p:cNvPr>
          <p:cNvPicPr>
            <a:picLocks noChangeAspect="1"/>
          </p:cNvPicPr>
          <p:nvPr/>
        </p:nvPicPr>
        <p:blipFill>
          <a:blip r:embed="rId6" cstate="print">
            <a:extLst>
              <a:ext uri="{28A0092B-C50C-407E-A947-70E740481C1C}">
                <a14:useLocalDpi xmlns:a14="http://schemas.microsoft.com/office/drawing/2010/main" val="0"/>
              </a:ext>
            </a:extLst>
          </a:blip>
          <a:srcRect b="5653"/>
          <a:stretch>
            <a:fillRect/>
          </a:stretch>
        </p:blipFill>
        <p:spPr>
          <a:xfrm>
            <a:off x="25189506" y="9151023"/>
            <a:ext cx="7035274" cy="4148484"/>
          </a:xfrm>
          <a:prstGeom prst="rect">
            <a:avLst/>
          </a:prstGeom>
        </p:spPr>
      </p:pic>
      <p:pic>
        <p:nvPicPr>
          <p:cNvPr id="16" name="Picture 15">
            <a:extLst>
              <a:ext uri="{FF2B5EF4-FFF2-40B4-BE49-F238E27FC236}">
                <a16:creationId xmlns:a16="http://schemas.microsoft.com/office/drawing/2014/main" id="{729F473D-DDA2-4B14-5A9F-F9F2D9A5661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5189506" y="13890727"/>
            <a:ext cx="7035274" cy="3957342"/>
          </a:xfrm>
          <a:prstGeom prst="rect">
            <a:avLst/>
          </a:prstGeom>
        </p:spPr>
      </p:pic>
      <p:pic>
        <p:nvPicPr>
          <p:cNvPr id="23" name="Picture 22">
            <a:extLst>
              <a:ext uri="{FF2B5EF4-FFF2-40B4-BE49-F238E27FC236}">
                <a16:creationId xmlns:a16="http://schemas.microsoft.com/office/drawing/2014/main" id="{1BA52A3B-C214-F01C-3D42-912DA6B84CC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6917998" y="10458450"/>
            <a:ext cx="7561765" cy="5671323"/>
          </a:xfrm>
          <a:prstGeom prst="rect">
            <a:avLst/>
          </a:prstGeom>
        </p:spPr>
      </p:pic>
      <p:sp>
        <p:nvSpPr>
          <p:cNvPr id="2" name="TextBox 1">
            <a:extLst>
              <a:ext uri="{FF2B5EF4-FFF2-40B4-BE49-F238E27FC236}">
                <a16:creationId xmlns:a16="http://schemas.microsoft.com/office/drawing/2014/main" id="{CC71F5AA-FE0B-66B3-C9CA-472884274C85}"/>
              </a:ext>
            </a:extLst>
          </p:cNvPr>
          <p:cNvSpPr txBox="1"/>
          <p:nvPr/>
        </p:nvSpPr>
        <p:spPr>
          <a:xfrm>
            <a:off x="17257443" y="16129773"/>
            <a:ext cx="7035274" cy="1477328"/>
          </a:xfrm>
          <a:prstGeom prst="rect">
            <a:avLst/>
          </a:prstGeom>
          <a:noFill/>
        </p:spPr>
        <p:txBody>
          <a:bodyPr wrap="square" rtlCol="0">
            <a:spAutoFit/>
          </a:bodyPr>
          <a:lstStyle/>
          <a:p>
            <a:pPr algn="ctr"/>
            <a:r>
              <a:rPr lang="en-US" sz="3000" b="1" dirty="0">
                <a:latin typeface="Times New Roman" panose="02020603050405020304" pitchFamily="18" charset="0"/>
                <a:cs typeface="Times New Roman" panose="02020603050405020304" pitchFamily="18" charset="0"/>
              </a:rPr>
              <a:t>Dual System Setup:</a:t>
            </a:r>
            <a:r>
              <a:rPr lang="en-US" sz="3000" dirty="0">
                <a:latin typeface="Times New Roman" panose="02020603050405020304" pitchFamily="18" charset="0"/>
                <a:cs typeface="Times New Roman" panose="02020603050405020304" pitchFamily="18" charset="0"/>
              </a:rPr>
              <a:t> Pose Estimation CV System (Left Monitor) and IMU System (right LCD) running simultaneously</a:t>
            </a:r>
            <a:endParaRPr lang="en-US" sz="3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5A9FC69-B265-D84F-426F-E76D7CF69F16}"/>
              </a:ext>
            </a:extLst>
          </p:cNvPr>
          <p:cNvSpPr txBox="1"/>
          <p:nvPr/>
        </p:nvSpPr>
        <p:spPr>
          <a:xfrm>
            <a:off x="24891244" y="13318118"/>
            <a:ext cx="7631797" cy="553998"/>
          </a:xfrm>
          <a:prstGeom prst="rect">
            <a:avLst/>
          </a:prstGeom>
          <a:noFill/>
        </p:spPr>
        <p:txBody>
          <a:bodyPr wrap="square" rtlCol="0">
            <a:spAutoFit/>
          </a:bodyPr>
          <a:lstStyle/>
          <a:p>
            <a:pPr algn="ctr"/>
            <a:r>
              <a:rPr lang="en-US" sz="3000" b="1" dirty="0">
                <a:latin typeface="Times New Roman" panose="02020603050405020304" pitchFamily="18" charset="0"/>
                <a:cs typeface="Times New Roman" panose="02020603050405020304" pitchFamily="18" charset="0"/>
              </a:rPr>
              <a:t>Arduino Serial Plotter</a:t>
            </a:r>
            <a:r>
              <a:rPr lang="en-US" sz="3000" dirty="0">
                <a:latin typeface="Times New Roman" panose="02020603050405020304" pitchFamily="18" charset="0"/>
                <a:cs typeface="Times New Roman" panose="02020603050405020304" pitchFamily="18" charset="0"/>
              </a:rPr>
              <a:t>: Plotting IMU Velocity</a:t>
            </a:r>
            <a:endParaRPr lang="en-US" sz="30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54E9E7D-7CFA-41BB-9F2E-7A9F3817C9E7}"/>
              </a:ext>
            </a:extLst>
          </p:cNvPr>
          <p:cNvSpPr txBox="1"/>
          <p:nvPr/>
        </p:nvSpPr>
        <p:spPr>
          <a:xfrm>
            <a:off x="25189506" y="17848069"/>
            <a:ext cx="7035274" cy="1015663"/>
          </a:xfrm>
          <a:prstGeom prst="rect">
            <a:avLst/>
          </a:prstGeom>
          <a:noFill/>
        </p:spPr>
        <p:txBody>
          <a:bodyPr wrap="square" rtlCol="0">
            <a:spAutoFit/>
          </a:bodyPr>
          <a:lstStyle/>
          <a:p>
            <a:pPr algn="ctr"/>
            <a:r>
              <a:rPr lang="en-US" sz="3000" b="1" dirty="0">
                <a:latin typeface="Times New Roman" panose="02020603050405020304" pitchFamily="18" charset="0"/>
                <a:cs typeface="Times New Roman" panose="02020603050405020304" pitchFamily="18" charset="0"/>
              </a:rPr>
              <a:t>Pose Estimation</a:t>
            </a:r>
            <a:r>
              <a:rPr lang="en-US" sz="3000" dirty="0">
                <a:latin typeface="Times New Roman" panose="02020603050405020304" pitchFamily="18" charset="0"/>
                <a:cs typeface="Times New Roman" panose="02020603050405020304" pitchFamily="18" charset="0"/>
              </a:rPr>
              <a:t>: Segmentation plotted displaying key point confidence and speed</a:t>
            </a:r>
            <a:endParaRPr lang="en-US" sz="3000" b="1" dirty="0">
              <a:latin typeface="Times New Roman" panose="02020603050405020304" pitchFamily="18" charset="0"/>
              <a:cs typeface="Times New Roman" panose="02020603050405020304" pitchFamily="18" charset="0"/>
            </a:endParaRPr>
          </a:p>
        </p:txBody>
      </p:sp>
      <p:pic>
        <p:nvPicPr>
          <p:cNvPr id="24" name="Picture 23">
            <a:extLst>
              <a:ext uri="{FF2B5EF4-FFF2-40B4-BE49-F238E27FC236}">
                <a16:creationId xmlns:a16="http://schemas.microsoft.com/office/drawing/2014/main" id="{82D7AFCF-92BB-7B88-4B7F-6C32906B9B5B}"/>
              </a:ext>
            </a:extLst>
          </p:cNvPr>
          <p:cNvPicPr>
            <a:picLocks noChangeAspect="1"/>
          </p:cNvPicPr>
          <p:nvPr/>
        </p:nvPicPr>
        <p:blipFill>
          <a:blip r:embed="rId9"/>
          <a:stretch>
            <a:fillRect/>
          </a:stretch>
        </p:blipFill>
        <p:spPr>
          <a:xfrm>
            <a:off x="14246942" y="37371758"/>
            <a:ext cx="2006517" cy="2006517"/>
          </a:xfrm>
          <a:prstGeom prst="rect">
            <a:avLst/>
          </a:prstGeom>
        </p:spPr>
      </p:pic>
      <p:sp>
        <p:nvSpPr>
          <p:cNvPr id="25" name="TextBox 24">
            <a:extLst>
              <a:ext uri="{FF2B5EF4-FFF2-40B4-BE49-F238E27FC236}">
                <a16:creationId xmlns:a16="http://schemas.microsoft.com/office/drawing/2014/main" id="{2FFCC98B-DE4E-D4CD-F7FA-2EEAC21D8C28}"/>
              </a:ext>
            </a:extLst>
          </p:cNvPr>
          <p:cNvSpPr txBox="1"/>
          <p:nvPr/>
        </p:nvSpPr>
        <p:spPr>
          <a:xfrm>
            <a:off x="11891810" y="37944129"/>
            <a:ext cx="2355132" cy="861774"/>
          </a:xfrm>
          <a:prstGeom prst="rect">
            <a:avLst/>
          </a:prstGeom>
          <a:noFill/>
        </p:spPr>
        <p:txBody>
          <a:bodyPr wrap="none" rtlCol="0">
            <a:spAutoFit/>
          </a:bodyPr>
          <a:lstStyle/>
          <a:p>
            <a:r>
              <a:rPr lang="en-US" sz="5000" b="1" dirty="0">
                <a:latin typeface="Times New Roman" panose="02020603050405020304" pitchFamily="18" charset="0"/>
                <a:cs typeface="Times New Roman" panose="02020603050405020304" pitchFamily="18" charset="0"/>
              </a:rPr>
              <a:t>Github:</a:t>
            </a:r>
          </a:p>
        </p:txBody>
      </p:sp>
    </p:spTree>
    <p:extLst>
      <p:ext uri="{BB962C8B-B14F-4D97-AF65-F5344CB8AC3E}">
        <p14:creationId xmlns:p14="http://schemas.microsoft.com/office/powerpoint/2010/main" val="45035185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692</TotalTime>
  <Words>1608</Words>
  <Application>Microsoft Office PowerPoint</Application>
  <PresentationFormat>Custom</PresentationFormat>
  <Paragraphs>71</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 Low-Cost Velocity Estimation Using IMU Sensor Fusion and Computer Vision for Gymnastics Applications  Reasun U. Allah-U-Akbar Department of Mechanical Engineering  Faculty Mentor: Dr. Junghun Choi, Ph.D.</vt:lpstr>
    </vt:vector>
  </TitlesOfParts>
  <Company>Georgia Southern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Effects of Copious Amounts of Coffee on Academic  Productivity among Students of Latin American Origin  Juan Valdez and Barbara Barista Department of Sleep Science  Faculty Mentor: Dr. Sara Starbucks</dc:title>
  <dc:creator>Barbara Gooby</dc:creator>
  <cp:lastModifiedBy>Reasun U Allah-U-Akbar</cp:lastModifiedBy>
  <cp:revision>15</cp:revision>
  <dcterms:created xsi:type="dcterms:W3CDTF">2019-02-15T21:00:16Z</dcterms:created>
  <dcterms:modified xsi:type="dcterms:W3CDTF">2026-03-23T17:25:35Z</dcterms:modified>
</cp:coreProperties>
</file>